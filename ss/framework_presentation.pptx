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ZA" sz="1800" b="0" u="none" strike="noStrike">
                <a:solidFill>
                  <a:schemeClr val="dk1"/>
                </a:solidFill>
                <a:effectLst/>
                <a:uFillTx/>
                <a:latin typeface="Calibri"/>
              </a:rPr>
              <a:t>Click to move the slide</a:t>
            </a:r>
            <a:endParaRPr lang="en-ZA"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ZA" sz="2000" b="0" u="none" strike="noStrike">
                <a:solidFill>
                  <a:srgbClr val="000000"/>
                </a:solidFill>
                <a:effectLst/>
                <a:uFillTx/>
                <a:latin typeface="Arial"/>
              </a:rPr>
              <a:t>Click to edit the notes format</a:t>
            </a:r>
            <a:endParaRPr lang="en-ZA"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ZA" sz="1400" b="0" u="none" strike="noStrike">
                <a:solidFill>
                  <a:srgbClr val="000000"/>
                </a:solidFill>
                <a:effectLst/>
                <a:uFillTx/>
                <a:latin typeface="Times New Roman"/>
              </a:rPr>
              <a:t> </a:t>
            </a:r>
            <a:endParaRPr lang="en-ZA"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ZA" sz="1400" b="0" u="none" strike="noStrike">
                <a:solidFill>
                  <a:srgbClr val="000000"/>
                </a:solidFill>
                <a:effectLst/>
                <a:uFillTx/>
                <a:latin typeface="Times New Roman"/>
              </a:defRPr>
            </a:lvl1pPr>
          </a:lstStyle>
          <a:p>
            <a:pPr indent="0" algn="r">
              <a:buNone/>
            </a:pPr>
            <a:r>
              <a:rPr lang="en-ZA" sz="1400" b="0" u="none" strike="noStrike">
                <a:solidFill>
                  <a:srgbClr val="000000"/>
                </a:solidFill>
                <a:effectLst/>
                <a:uFillTx/>
                <a:latin typeface="Times New Roman"/>
              </a:rPr>
              <a:t> </a:t>
            </a:r>
            <a:endParaRPr lang="en-ZA"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ZA" sz="1400" b="0" u="none" strike="noStrike">
                <a:solidFill>
                  <a:srgbClr val="000000"/>
                </a:solidFill>
                <a:effectLst/>
                <a:uFillTx/>
                <a:latin typeface="Times New Roman"/>
              </a:defRPr>
            </a:lvl1pPr>
          </a:lstStyle>
          <a:p>
            <a:pPr indent="0" algn="l">
              <a:buNone/>
            </a:pPr>
            <a:r>
              <a:rPr lang="en-ZA" sz="1400" b="0" u="none" strike="noStrike">
                <a:solidFill>
                  <a:srgbClr val="000000"/>
                </a:solidFill>
                <a:effectLst/>
                <a:uFillTx/>
                <a:latin typeface="Times New Roman"/>
              </a:rPr>
              <a:t> </a:t>
            </a:r>
            <a:endParaRPr lang="en-ZA"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ZA" sz="1400" b="0" u="none" strike="noStrike">
                <a:solidFill>
                  <a:srgbClr val="000000"/>
                </a:solidFill>
                <a:effectLst/>
                <a:uFillTx/>
                <a:latin typeface="Times New Roman"/>
              </a:defRPr>
            </a:lvl1pPr>
          </a:lstStyle>
          <a:p>
            <a:pPr indent="0" algn="r">
              <a:buNone/>
            </a:pPr>
            <a:fld id="{0BD2317E-568F-4EC7-92D9-E8E5AA8746A7}" type="slidenum">
              <a:rPr lang="en-ZA" sz="1400" b="0" u="none" strike="noStrike">
                <a:solidFill>
                  <a:srgbClr val="000000"/>
                </a:solidFill>
                <a:effectLst/>
                <a:uFillTx/>
                <a:latin typeface="Times New Roman"/>
              </a:rPr>
              <a:t>1</a:t>
            </a:fld>
            <a:endParaRPr lang="en-ZA"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Title slide. The deck covers: (1) key changes in the redesigned framework, (2) the 5-group experiment pipeline, (3) the full 6-module feature set, and (4) new outputs for paper support.</a:t>
            </a:r>
            <a:endParaRPr lang="en-ZA" sz="2000" b="0" u="none" strike="noStrike">
              <a:solidFill>
                <a:srgbClr val="000000"/>
              </a:solidFill>
              <a:effectLst/>
              <a:uFillTx/>
              <a:latin typeface="Arial"/>
            </a:endParaRPr>
          </a:p>
        </p:txBody>
      </p:sp>
      <p:sp>
        <p:nvSpPr>
          <p:cNvPr id="317"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F4633A-F039-4BD7-992C-01384B4C9437}"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2: Six key changes. Emphasise that change 2 (GT fallback=False) is a scientific integrity decision — the upper bound must stay pure. Change 3 (preprocessing flags) enables the with/without enhancement ablation study for RQ2.</a:t>
            </a:r>
            <a:endParaRPr lang="en-ZA" sz="2000" b="0" u="none" strike="noStrike">
              <a:solidFill>
                <a:srgbClr val="000000"/>
              </a:solidFill>
              <a:effectLst/>
              <a:uFillTx/>
              <a:latin typeface="Arial"/>
            </a:endParaRPr>
          </a:p>
        </p:txBody>
      </p:sp>
      <p:sp>
        <p:nvSpPr>
          <p:cNvPr id="32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03EC66-68F3-4C2D-9B74-CE4697A837B1}"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3: Groups A and B are the primary research contribution. Group C (CNN) is a comparison baseline — comparison_only=True flag prevents its results mixing into classical tables. Group E uses GT bboxes with NO MOG2 fallback to keep the ceiling pure.</a:t>
            </a:r>
            <a:endParaRPr lang="en-ZA" sz="2000" b="0" u="none" strike="noStrike">
              <a:solidFill>
                <a:srgbClr val="000000"/>
              </a:solidFill>
              <a:effectLst/>
              <a:uFillTx/>
              <a:latin typeface="Arial"/>
            </a:endParaRPr>
          </a:p>
        </p:txBody>
      </p:sp>
      <p:sp>
        <p:nvSpPr>
          <p:cNvPr id="32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B8A1AB-92AA-4C62-BE51-5AF8828F5B3D}"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4: The 6 feature modules. Only the Trajectory module runs in Group A. All 6 run in Groups B, D, and E. The aggregation step (mean, max, std per track feature + n_valid_tracks) produces the final per-video vector.</a:t>
            </a:r>
            <a:endParaRPr lang="en-ZA" sz="2000" b="0" u="none" strike="noStrike">
              <a:solidFill>
                <a:srgbClr val="000000"/>
              </a:solidFill>
              <a:effectLst/>
              <a:uFillTx/>
              <a:latin typeface="Arial"/>
            </a:endParaRPr>
          </a:p>
        </p:txBody>
      </p:sp>
      <p:sp>
        <p:nvSpPr>
          <p:cNvPr id="32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25C04C-6319-4238-ADC7-FE43CAD7063A}"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5: All these outputs are automatically generated every run. The detector stats table directly feeds the per-distortion failure table in Section 4.4 of the paper. The feature importance JSON feeds Figure 4.</a:t>
            </a:r>
            <a:endParaRPr lang="en-ZA" sz="2000" b="0" u="none" strike="noStrike">
              <a:solidFill>
                <a:srgbClr val="000000"/>
              </a:solidFill>
              <a:effectLst/>
              <a:uFillTx/>
              <a:latin typeface="Arial"/>
            </a:endParaRPr>
          </a:p>
        </p:txBody>
      </p:sp>
      <p:sp>
        <p:nvSpPr>
          <p:cNvPr id="329"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D0BDC7-5980-4AB8-B0AB-83B7887F24FB}"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6: RQ1 and RQ4 are already answered by the existing paper. RQ2, RQ3, RQ5, RQ6 are implemented in the codebase and simply need to be run to get results. The paper currently lists RQ3 and RQ6 as future work — they are done.</a:t>
            </a:r>
            <a:endParaRPr lang="en-ZA" sz="2000" b="0" u="none" strike="noStrike">
              <a:solidFill>
                <a:srgbClr val="000000"/>
              </a:solidFill>
              <a:effectLst/>
              <a:uFillTx/>
              <a:latin typeface="Arial"/>
            </a:endParaRPr>
          </a:p>
        </p:txBody>
      </p:sp>
      <p:sp>
        <p:nvSpPr>
          <p:cNvPr id="332"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7E7C97-5925-4685-B1FC-1BB26CF4E085}" type="slidenum">
              <a:rPr lang="en-US" sz="1200" b="0" u="none" strike="noStrike">
                <a:solidFill>
                  <a:schemeClr val="dk1"/>
                </a:solidFill>
                <a:effectLst/>
                <a:uFillTx/>
                <a:latin typeface="+mn-lt"/>
                <a:ea typeface="+mn-ea"/>
              </a:rPr>
              <a:t>&lt;number&gt;</a:t>
            </a:fld>
            <a:endParaRPr lang="en-ZA"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ZA" sz="1800" b="0" u="none" strike="noStrike">
                <a:solidFill>
                  <a:schemeClr val="dk1"/>
                </a:solidFill>
                <a:effectLst/>
                <a:uFillTx/>
                <a:latin typeface="Calibri"/>
              </a:defRPr>
            </a:lvl1pPr>
          </a:lstStyle>
          <a:p>
            <a:pPr indent="0" algn="l">
              <a:buNone/>
            </a:pPr>
            <a:r>
              <a:rPr lang="en-ZA" sz="1800" b="0" u="none" strike="noStrike">
                <a:solidFill>
                  <a:schemeClr val="dk1"/>
                </a:solidFill>
                <a:effectLst/>
                <a:uFillTx/>
                <a:latin typeface="Calibri"/>
              </a:rPr>
              <a:t>Click to edit the title text format</a:t>
            </a:r>
            <a:endParaRPr lang="en-ZA"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ZA"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ZA"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ZA"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ZA"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ZA" sz="3200" b="0" u="none" strike="noStrike">
                <a:solidFill>
                  <a:schemeClr val="dk1"/>
                </a:solidFill>
                <a:effectLst/>
                <a:uFillTx/>
                <a:latin typeface="Calibri"/>
              </a:rPr>
              <a:t>Click to edit the outline text format</a:t>
            </a:r>
            <a:endParaRPr lang="en-ZA"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ZA" sz="2400" b="0" u="none" strike="noStrike">
                <a:solidFill>
                  <a:schemeClr val="dk1"/>
                </a:solidFill>
                <a:effectLst/>
                <a:uFillTx/>
                <a:latin typeface="Calibri"/>
              </a:rPr>
              <a:t>Second Outline Level</a:t>
            </a:r>
            <a:endParaRPr lang="en-ZA"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ZA" sz="2000" b="0" u="none" strike="noStrike">
                <a:solidFill>
                  <a:schemeClr val="dk1"/>
                </a:solidFill>
                <a:effectLst/>
                <a:uFillTx/>
                <a:latin typeface="Calibri"/>
              </a:rPr>
              <a:t>Third Outline Level</a:t>
            </a:r>
            <a:endParaRPr lang="en-ZA"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ZA" sz="2000" b="0" u="none" strike="noStrike">
                <a:solidFill>
                  <a:schemeClr val="dk1"/>
                </a:solidFill>
                <a:effectLst/>
                <a:uFillTx/>
                <a:latin typeface="Calibri"/>
              </a:rPr>
              <a:t>Fourth Outline Level</a:t>
            </a:r>
            <a:endParaRPr lang="en-ZA"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Fifth Outline Level</a:t>
            </a:r>
            <a:endParaRPr lang="en-ZA"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Sixth Outline Level</a:t>
            </a:r>
            <a:endParaRPr lang="en-ZA"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Seventh Outline Level</a:t>
            </a:r>
            <a:endParaRPr lang="en-ZA"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24"/>
        </a:solidFill>
      </p:bgPr>
    </p:bg>
    <p:spTree>
      <p:nvGrpSpPr>
        <p:cNvPr id="1" name=""/>
        <p:cNvGrpSpPr/>
        <p:nvPr/>
      </p:nvGrpSpPr>
      <p:grpSpPr>
        <a:xfrm>
          <a:off x="0" y="0"/>
          <a:ext cx="0" cy="0"/>
          <a:chOff x="0" y="0"/>
          <a:chExt cx="0" cy="0"/>
        </a:xfrm>
      </p:grpSpPr>
      <p:sp>
        <p:nvSpPr>
          <p:cNvPr id="10" name="Shape 0"/>
          <p:cNvSpPr/>
          <p:nvPr/>
        </p:nvSpPr>
        <p:spPr>
          <a:xfrm>
            <a:off x="6217920" y="-1371600"/>
            <a:ext cx="5028840" cy="5028840"/>
          </a:xfrm>
          <a:prstGeom prst="ellipse">
            <a:avLst/>
          </a:prstGeom>
          <a:solidFill>
            <a:srgbClr val="00BCD4">
              <a:alpha val="12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1" name="Shape 1"/>
          <p:cNvSpPr/>
          <p:nvPr/>
        </p:nvSpPr>
        <p:spPr>
          <a:xfrm>
            <a:off x="-1097280" y="2560320"/>
            <a:ext cx="3657240" cy="3657240"/>
          </a:xfrm>
          <a:prstGeom prst="ellipse">
            <a:avLst/>
          </a:prstGeom>
          <a:solidFill>
            <a:srgbClr val="00BCD4">
              <a:alpha val="8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2" name="Text 2"/>
          <p:cNvSpPr/>
          <p:nvPr/>
        </p:nvSpPr>
        <p:spPr>
          <a:xfrm>
            <a:off x="548640" y="502920"/>
            <a:ext cx="80463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300" strike="noStrike">
                <a:solidFill>
                  <a:srgbClr val="00BCD4"/>
                </a:solidFill>
                <a:effectLst/>
                <a:uFillTx/>
                <a:latin typeface="Calibri"/>
                <a:ea typeface="Calibri"/>
              </a:rPr>
              <a:t>11-October-2026</a:t>
            </a:r>
            <a:endParaRPr lang="en-ZA" sz="900" b="0" u="none" strike="noStrike">
              <a:solidFill>
                <a:srgbClr val="FFFFFF"/>
              </a:solidFill>
              <a:effectLst/>
              <a:uFillTx/>
              <a:latin typeface="Arial"/>
            </a:endParaRPr>
          </a:p>
        </p:txBody>
      </p:sp>
      <p:sp>
        <p:nvSpPr>
          <p:cNvPr id="13" name="Text 3"/>
          <p:cNvSpPr/>
          <p:nvPr/>
        </p:nvSpPr>
        <p:spPr>
          <a:xfrm>
            <a:off x="548640" y="868680"/>
            <a:ext cx="8046360" cy="2011320"/>
          </a:xfrm>
          <a:prstGeom prst="rect">
            <a:avLst/>
          </a:prstGeom>
          <a:noFill/>
          <a:ln w="0">
            <a:noFill/>
          </a:ln>
        </p:spPr>
        <p:style>
          <a:lnRef idx="0"/>
          <a:fillRef idx="0"/>
          <a:effectRef idx="0"/>
          <a:fontRef idx="minor"/>
        </p:style>
        <p:txBody>
          <a:bodyPr lIns="0" tIns="0" rIns="0" bIns="0" anchor="ctr">
            <a:noAutofit/>
          </a:bodyPr>
          <a:p>
            <a:r>
              <a:rPr lang="en-US" sz="3600" b="1" u="none" strike="noStrike">
                <a:solidFill>
                  <a:srgbClr val="F0F4FF"/>
                </a:solidFill>
                <a:effectLst/>
                <a:uFillTx/>
                <a:latin typeface="Cambria"/>
                <a:ea typeface="Cambria"/>
              </a:rPr>
              <a:t>Suspicious Activity Distortion in</a:t>
            </a:r>
            <a:br>
              <a:rPr sz="3600"/>
            </a:br>
            <a:r>
              <a:rPr lang="en-US" sz="3600" b="1" u="none" strike="noStrike">
                <a:solidFill>
                  <a:srgbClr val="F0F4FF"/>
                </a:solidFill>
                <a:effectLst/>
                <a:uFillTx/>
                <a:latin typeface="Cambria"/>
                <a:ea typeface="Cambria"/>
              </a:rPr>
              <a:t>Authentic Videos</a:t>
            </a:r>
            <a:endParaRPr lang="en-ZA" sz="3600" b="0" u="none" strike="noStrike">
              <a:solidFill>
                <a:srgbClr val="FFFFFF"/>
              </a:solidFill>
              <a:effectLst/>
              <a:uFillTx/>
              <a:latin typeface="Arial"/>
            </a:endParaRPr>
          </a:p>
        </p:txBody>
      </p:sp>
      <p:sp>
        <p:nvSpPr>
          <p:cNvPr id="14" name="Text 4"/>
          <p:cNvSpPr/>
          <p:nvPr/>
        </p:nvSpPr>
        <p:spPr>
          <a:xfrm>
            <a:off x="5400000" y="2946600"/>
            <a:ext cx="3591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7B8DB8"/>
                </a:solidFill>
                <a:effectLst/>
                <a:uFillTx/>
                <a:latin typeface="Calibri"/>
                <a:ea typeface="Calibri"/>
              </a:rPr>
              <a:t> Project Link: </a:t>
            </a:r>
            <a:r>
              <a:rPr lang="en-US" sz="1300" b="0" i="1" u="none" strike="noStrike">
                <a:solidFill>
                  <a:srgbClr val="FF972F"/>
                </a:solidFill>
                <a:effectLst/>
                <a:uFillTx/>
                <a:latin typeface="Calibri"/>
                <a:ea typeface="Calibri"/>
              </a:rPr>
              <a:t>Github</a:t>
            </a:r>
            <a:r>
              <a:rPr lang="en-US" sz="1300" b="0" i="1" u="none" strike="noStrike">
                <a:solidFill>
                  <a:srgbClr val="7B8DB8"/>
                </a:solidFill>
                <a:effectLst/>
                <a:uFillTx/>
                <a:latin typeface="Calibri"/>
                <a:ea typeface="Calibri"/>
              </a:rPr>
              <a:t> ; </a:t>
            </a:r>
            <a:br>
              <a:rPr sz="1300"/>
            </a:br>
            <a:r>
              <a:rPr lang="en-US" sz="1300" b="0" i="1" u="none" strike="noStrike">
                <a:solidFill>
                  <a:srgbClr val="7B8DB8"/>
                </a:solidFill>
                <a:effectLst/>
                <a:uFillTx/>
                <a:latin typeface="Calibri"/>
                <a:ea typeface="Calibri"/>
              </a:rPr>
              <a:t>AD-SVD Dataset Link: </a:t>
            </a:r>
            <a:r>
              <a:rPr lang="en-US" sz="1300" b="0" i="1" u="none" strike="noStrike">
                <a:solidFill>
                  <a:srgbClr val="FF5429"/>
                </a:solidFill>
                <a:effectLst/>
                <a:uFillTx/>
                <a:latin typeface="Calibri"/>
                <a:ea typeface="Calibri"/>
              </a:rPr>
              <a:t>dataset</a:t>
            </a:r>
            <a:endParaRPr lang="en-ZA" sz="1300" b="0" u="none" strike="noStrike">
              <a:solidFill>
                <a:srgbClr val="FFFFFF"/>
              </a:solidFill>
              <a:effectLst/>
              <a:uFillTx/>
              <a:latin typeface="Arial"/>
            </a:endParaRPr>
          </a:p>
        </p:txBody>
      </p:sp>
      <p:sp>
        <p:nvSpPr>
          <p:cNvPr id="15" name="Shape 5"/>
          <p:cNvSpPr/>
          <p:nvPr/>
        </p:nvSpPr>
        <p:spPr>
          <a:xfrm>
            <a:off x="360000" y="2663640"/>
            <a:ext cx="8460000" cy="36360"/>
          </a:xfrm>
          <a:prstGeom prst="rect">
            <a:avLst/>
          </a:prstGeom>
          <a:solidFill>
            <a:srgbClr val="00BCD4"/>
          </a:solidFill>
          <a:ln w="12700">
            <a:solidFill>
              <a:srgbClr val="080D24"/>
            </a:solidFill>
            <a:round/>
          </a:ln>
        </p:spPr>
        <p:style>
          <a:lnRef idx="0"/>
          <a:fillRef idx="0"/>
          <a:effectRef idx="0"/>
          <a:fontRef idx="minor"/>
        </p:style>
        <p:txBody>
          <a:bodyPr lIns="90000" tIns="-8280" rIns="90000" bIns="-8280" anchor="t">
            <a:noAutofit/>
          </a:bodyPr>
          <a:p>
            <a:endParaRPr lang="en-ZA" sz="1800" b="0" u="none" strike="noStrike">
              <a:solidFill>
                <a:srgbClr val="000000"/>
              </a:solidFill>
              <a:effectLst/>
              <a:uFillTx/>
              <a:latin typeface="Arial"/>
            </a:endParaRPr>
          </a:p>
        </p:txBody>
      </p:sp>
      <p:sp>
        <p:nvSpPr>
          <p:cNvPr id="16" name="Text 6"/>
          <p:cNvSpPr/>
          <p:nvPr/>
        </p:nvSpPr>
        <p:spPr>
          <a:xfrm>
            <a:off x="548640" y="2880000"/>
            <a:ext cx="4131360" cy="54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FFFFFF"/>
                </a:solidFill>
                <a:effectLst/>
                <a:uFillTx/>
                <a:latin typeface="Calibri"/>
                <a:ea typeface="Calibri"/>
              </a:rPr>
              <a:t>Author: Tshephang Phuti-A-Nkutu Matlala </a:t>
            </a:r>
            <a:br>
              <a:rPr sz="1600"/>
            </a:br>
            <a:r>
              <a:rPr lang="en-US" sz="1600" b="0" u="none" strike="noStrike">
                <a:solidFill>
                  <a:srgbClr val="FFFFFF"/>
                </a:solidFill>
                <a:effectLst/>
                <a:uFillTx/>
                <a:latin typeface="Calibri"/>
                <a:ea typeface="Calibri"/>
              </a:rPr>
              <a:t>email: 223004635@student.uj.ac.za</a:t>
            </a:r>
            <a:endParaRPr lang="en-ZA" sz="1600" b="0" u="none" strike="noStrike">
              <a:solidFill>
                <a:srgbClr val="FFFFFF"/>
              </a:solidFill>
              <a:effectLst/>
              <a:uFillTx/>
              <a:latin typeface="Arial"/>
            </a:endParaRPr>
          </a:p>
        </p:txBody>
      </p:sp>
      <p:sp>
        <p:nvSpPr>
          <p:cNvPr id="17" name="Shape 7"/>
          <p:cNvSpPr/>
          <p:nvPr/>
        </p:nvSpPr>
        <p:spPr>
          <a:xfrm>
            <a:off x="548640" y="4434840"/>
            <a:ext cx="1919880" cy="347040"/>
          </a:xfrm>
          <a:prstGeom prst="roundRect">
            <a:avLst>
              <a:gd name="adj" fmla="val 21053"/>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8" name="Text 8"/>
          <p:cNvSpPr/>
          <p:nvPr/>
        </p:nvSpPr>
        <p:spPr>
          <a:xfrm>
            <a:off x="548640" y="4434840"/>
            <a:ext cx="19198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4DD0E1"/>
                </a:solidFill>
                <a:effectLst/>
                <a:uFillTx/>
                <a:latin typeface="Calibri"/>
                <a:ea typeface="Calibri"/>
              </a:rPr>
              <a:t>5 Experiment Groups</a:t>
            </a:r>
            <a:endParaRPr lang="en-ZA" sz="900" b="0" u="none" strike="noStrike">
              <a:solidFill>
                <a:srgbClr val="FFFFFF"/>
              </a:solidFill>
              <a:effectLst/>
              <a:uFillTx/>
              <a:latin typeface="Arial"/>
            </a:endParaRPr>
          </a:p>
        </p:txBody>
      </p:sp>
      <p:sp>
        <p:nvSpPr>
          <p:cNvPr id="19" name="Shape 9"/>
          <p:cNvSpPr/>
          <p:nvPr/>
        </p:nvSpPr>
        <p:spPr>
          <a:xfrm>
            <a:off x="2697480" y="4434840"/>
            <a:ext cx="1919880" cy="347040"/>
          </a:xfrm>
          <a:prstGeom prst="roundRect">
            <a:avLst>
              <a:gd name="adj" fmla="val 21053"/>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0" name="Text 10"/>
          <p:cNvSpPr/>
          <p:nvPr/>
        </p:nvSpPr>
        <p:spPr>
          <a:xfrm>
            <a:off x="2697480" y="4434840"/>
            <a:ext cx="19198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4DD0E1"/>
                </a:solidFill>
                <a:effectLst/>
                <a:uFillTx/>
                <a:latin typeface="Calibri"/>
                <a:ea typeface="Calibri"/>
              </a:rPr>
              <a:t>6 Feature Modules</a:t>
            </a:r>
            <a:endParaRPr lang="en-ZA" sz="900" b="0" u="none" strike="noStrike">
              <a:solidFill>
                <a:srgbClr val="FFFFFF"/>
              </a:solidFill>
              <a:effectLst/>
              <a:uFillTx/>
              <a:latin typeface="Arial"/>
            </a:endParaRPr>
          </a:p>
        </p:txBody>
      </p:sp>
      <p:sp>
        <p:nvSpPr>
          <p:cNvPr id="21" name="Shape 11"/>
          <p:cNvSpPr/>
          <p:nvPr/>
        </p:nvSpPr>
        <p:spPr>
          <a:xfrm>
            <a:off x="4846320" y="4434840"/>
            <a:ext cx="1919880" cy="347040"/>
          </a:xfrm>
          <a:prstGeom prst="roundRect">
            <a:avLst>
              <a:gd name="adj" fmla="val 21053"/>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2" name="Text 12"/>
          <p:cNvSpPr/>
          <p:nvPr/>
        </p:nvSpPr>
        <p:spPr>
          <a:xfrm>
            <a:off x="4846320" y="4434840"/>
            <a:ext cx="19198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4DD0E1"/>
                </a:solidFill>
                <a:effectLst/>
                <a:uFillTx/>
                <a:latin typeface="Calibri"/>
                <a:ea typeface="Calibri"/>
              </a:rPr>
              <a:t>4 Failure Categories</a:t>
            </a:r>
            <a:endParaRPr lang="en-ZA" sz="900" b="0" u="none" strike="noStrike">
              <a:solidFill>
                <a:srgbClr val="FFFFFF"/>
              </a:solidFill>
              <a:effectLst/>
              <a:uFillTx/>
              <a:latin typeface="Arial"/>
            </a:endParaRPr>
          </a:p>
        </p:txBody>
      </p:sp>
      <p:sp>
        <p:nvSpPr>
          <p:cNvPr id="23" name="Shape 13"/>
          <p:cNvSpPr/>
          <p:nvPr/>
        </p:nvSpPr>
        <p:spPr>
          <a:xfrm>
            <a:off x="6995160" y="4434840"/>
            <a:ext cx="1919880" cy="347040"/>
          </a:xfrm>
          <a:prstGeom prst="roundRect">
            <a:avLst>
              <a:gd name="adj" fmla="val 21053"/>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4" name="Text 14"/>
          <p:cNvSpPr/>
          <p:nvPr/>
        </p:nvSpPr>
        <p:spPr>
          <a:xfrm>
            <a:off x="6995160" y="4434840"/>
            <a:ext cx="19198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4DD0E1"/>
                </a:solidFill>
                <a:effectLst/>
                <a:uFillTx/>
                <a:latin typeface="Calibri"/>
                <a:ea typeface="Calibri"/>
              </a:rPr>
              <a:t>Run IDs + Git Tracking</a:t>
            </a:r>
            <a:endParaRPr lang="en-ZA"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535"/>
        </a:solidFill>
      </p:bgPr>
    </p:bg>
    <p:spTree>
      <p:nvGrpSpPr>
        <p:cNvPr id="1" name=""/>
        <p:cNvGrpSpPr/>
        <p:nvPr/>
      </p:nvGrpSpPr>
      <p:grpSpPr>
        <a:xfrm>
          <a:off x="0" y="0"/>
          <a:ext cx="0" cy="0"/>
          <a:chOff x="0" y="0"/>
          <a:chExt cx="0" cy="0"/>
        </a:xfrm>
      </p:grpSpPr>
      <p:sp>
        <p:nvSpPr>
          <p:cNvPr id="25" name="Text 0"/>
          <p:cNvSpPr/>
          <p:nvPr/>
        </p:nvSpPr>
        <p:spPr>
          <a:xfrm>
            <a:off x="457200" y="201240"/>
            <a:ext cx="8229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0F4FF"/>
                </a:solidFill>
                <a:effectLst/>
                <a:uFillTx/>
                <a:latin typeface="Cambria"/>
                <a:ea typeface="Cambria"/>
              </a:rPr>
              <a:t>Key Changes Applied to the Framework</a:t>
            </a:r>
            <a:endParaRPr lang="en-ZA" sz="2200" b="0" u="none" strike="noStrike">
              <a:solidFill>
                <a:srgbClr val="FFFFFF"/>
              </a:solidFill>
              <a:effectLst/>
              <a:uFillTx/>
              <a:latin typeface="Arial"/>
            </a:endParaRPr>
          </a:p>
        </p:txBody>
      </p:sp>
      <p:sp>
        <p:nvSpPr>
          <p:cNvPr id="26" name="Text 1"/>
          <p:cNvSpPr/>
          <p:nvPr/>
        </p:nvSpPr>
        <p:spPr>
          <a:xfrm>
            <a:off x="457200" y="65844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7B8DB8"/>
                </a:solidFill>
                <a:effectLst/>
                <a:uFillTx/>
                <a:latin typeface="Calibri"/>
                <a:ea typeface="Calibri"/>
              </a:rPr>
              <a:t>Six targeted changes — no new ideas, completing existing ones</a:t>
            </a:r>
            <a:endParaRPr lang="en-ZA" sz="1100" b="0" u="none" strike="noStrike">
              <a:solidFill>
                <a:srgbClr val="FFFFFF"/>
              </a:solidFill>
              <a:effectLst/>
              <a:uFillTx/>
              <a:latin typeface="Arial"/>
            </a:endParaRPr>
          </a:p>
        </p:txBody>
      </p:sp>
      <p:sp>
        <p:nvSpPr>
          <p:cNvPr id="27" name="Shape 2"/>
          <p:cNvSpPr/>
          <p:nvPr/>
        </p:nvSpPr>
        <p:spPr>
          <a:xfrm>
            <a:off x="438840" y="1024200"/>
            <a:ext cx="2742840" cy="1535760"/>
          </a:xfrm>
          <a:prstGeom prst="roundRect">
            <a:avLst>
              <a:gd name="adj" fmla="val 5952"/>
            </a:avLst>
          </a:prstGeom>
          <a:solidFill>
            <a:srgbClr val="141F4A"/>
          </a:solidFill>
          <a:ln w="12700">
            <a:solidFill>
              <a:srgbClr val="FFB74D"/>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8" name="Shape 3"/>
          <p:cNvSpPr/>
          <p:nvPr/>
        </p:nvSpPr>
        <p:spPr>
          <a:xfrm>
            <a:off x="567000" y="1143000"/>
            <a:ext cx="347040" cy="273960"/>
          </a:xfrm>
          <a:prstGeom prst="roundRect">
            <a:avLst>
              <a:gd name="adj" fmla="val 20000"/>
            </a:avLst>
          </a:prstGeom>
          <a:solidFill>
            <a:srgbClr val="FFB74D">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9" name="Text 4"/>
          <p:cNvSpPr/>
          <p:nvPr/>
        </p:nvSpPr>
        <p:spPr>
          <a:xfrm>
            <a:off x="567000" y="114300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01</a:t>
            </a:r>
            <a:endParaRPr lang="en-ZA" sz="900" b="0" u="none" strike="noStrike">
              <a:solidFill>
                <a:srgbClr val="FFFFFF"/>
              </a:solidFill>
              <a:effectLst/>
              <a:uFillTx/>
              <a:latin typeface="Arial"/>
            </a:endParaRPr>
          </a:p>
        </p:txBody>
      </p:sp>
      <p:sp>
        <p:nvSpPr>
          <p:cNvPr id="30" name="Text 5"/>
          <p:cNvSpPr/>
          <p:nvPr/>
        </p:nvSpPr>
        <p:spPr>
          <a:xfrm>
            <a:off x="969120" y="112464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CNN as Comparison Only</a:t>
            </a:r>
            <a:endParaRPr lang="en-ZA" sz="1100" b="0" u="none" strike="noStrike">
              <a:solidFill>
                <a:srgbClr val="FFFFFF"/>
              </a:solidFill>
              <a:effectLst/>
              <a:uFillTx/>
              <a:latin typeface="Arial"/>
            </a:endParaRPr>
          </a:p>
        </p:txBody>
      </p:sp>
      <p:sp>
        <p:nvSpPr>
          <p:cNvPr id="31" name="Text 6"/>
          <p:cNvSpPr/>
          <p:nvPr/>
        </p:nvSpPr>
        <p:spPr>
          <a:xfrm>
            <a:off x="567000" y="148140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comparison_only = True in Group C config.</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CNN results are stored separately and never mixed into classical pipeline tables.</a:t>
            </a:r>
            <a:endParaRPr lang="en-ZA" sz="900" b="0" u="none" strike="noStrike">
              <a:solidFill>
                <a:srgbClr val="FFFFFF"/>
              </a:solidFill>
              <a:effectLst/>
              <a:uFillTx/>
              <a:latin typeface="Arial"/>
            </a:endParaRPr>
          </a:p>
        </p:txBody>
      </p:sp>
      <p:sp>
        <p:nvSpPr>
          <p:cNvPr id="32" name="Shape 7"/>
          <p:cNvSpPr/>
          <p:nvPr/>
        </p:nvSpPr>
        <p:spPr>
          <a:xfrm>
            <a:off x="3291840" y="1024200"/>
            <a:ext cx="2742840" cy="1535760"/>
          </a:xfrm>
          <a:prstGeom prst="roundRect">
            <a:avLst>
              <a:gd name="adj" fmla="val 5952"/>
            </a:avLst>
          </a:prstGeom>
          <a:solidFill>
            <a:srgbClr val="141F4A"/>
          </a:solidFill>
          <a:ln w="12700">
            <a:solidFill>
              <a:srgbClr val="E94560"/>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33" name="Shape 8"/>
          <p:cNvSpPr/>
          <p:nvPr/>
        </p:nvSpPr>
        <p:spPr>
          <a:xfrm>
            <a:off x="3420000" y="1143000"/>
            <a:ext cx="347040" cy="273960"/>
          </a:xfrm>
          <a:prstGeom prst="roundRect">
            <a:avLst>
              <a:gd name="adj" fmla="val 20000"/>
            </a:avLst>
          </a:prstGeom>
          <a:solidFill>
            <a:srgbClr val="E94560">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34" name="Text 9"/>
          <p:cNvSpPr/>
          <p:nvPr/>
        </p:nvSpPr>
        <p:spPr>
          <a:xfrm>
            <a:off x="3420000" y="114300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02</a:t>
            </a:r>
            <a:endParaRPr lang="en-ZA" sz="900" b="0" u="none" strike="noStrike">
              <a:solidFill>
                <a:srgbClr val="FFFFFF"/>
              </a:solidFill>
              <a:effectLst/>
              <a:uFillTx/>
              <a:latin typeface="Arial"/>
            </a:endParaRPr>
          </a:p>
        </p:txBody>
      </p:sp>
      <p:sp>
        <p:nvSpPr>
          <p:cNvPr id="35" name="Text 10"/>
          <p:cNvSpPr/>
          <p:nvPr/>
        </p:nvSpPr>
        <p:spPr>
          <a:xfrm>
            <a:off x="3822120" y="112464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GT Fallback Removed</a:t>
            </a:r>
            <a:endParaRPr lang="en-ZA" sz="1100" b="0" u="none" strike="noStrike">
              <a:solidFill>
                <a:srgbClr val="FFFFFF"/>
              </a:solidFill>
              <a:effectLst/>
              <a:uFillTx/>
              <a:latin typeface="Arial"/>
            </a:endParaRPr>
          </a:p>
        </p:txBody>
      </p:sp>
      <p:sp>
        <p:nvSpPr>
          <p:cNvPr id="36" name="Text 11"/>
          <p:cNvSpPr/>
          <p:nvPr/>
        </p:nvSpPr>
        <p:spPr>
          <a:xfrm>
            <a:off x="3420000" y="148140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fallback_to_mog2 = False in Group E.</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Keeps the upper-bound experiment scientifically pure — no mixed detection sources.</a:t>
            </a:r>
            <a:endParaRPr lang="en-ZA" sz="900" b="0" u="none" strike="noStrike">
              <a:solidFill>
                <a:srgbClr val="FFFFFF"/>
              </a:solidFill>
              <a:effectLst/>
              <a:uFillTx/>
              <a:latin typeface="Arial"/>
            </a:endParaRPr>
          </a:p>
        </p:txBody>
      </p:sp>
      <p:sp>
        <p:nvSpPr>
          <p:cNvPr id="37" name="Shape 12"/>
          <p:cNvSpPr/>
          <p:nvPr/>
        </p:nvSpPr>
        <p:spPr>
          <a:xfrm>
            <a:off x="6144840" y="1024200"/>
            <a:ext cx="2742840" cy="1535760"/>
          </a:xfrm>
          <a:prstGeom prst="roundRect">
            <a:avLst>
              <a:gd name="adj" fmla="val 5952"/>
            </a:avLst>
          </a:prstGeom>
          <a:solidFill>
            <a:srgbClr val="141F4A"/>
          </a:solidFill>
          <a:ln w="12700">
            <a:solidFill>
              <a:srgbClr val="00BCD4"/>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38" name="Shape 13"/>
          <p:cNvSpPr/>
          <p:nvPr/>
        </p:nvSpPr>
        <p:spPr>
          <a:xfrm>
            <a:off x="6272640" y="1143000"/>
            <a:ext cx="347040" cy="273960"/>
          </a:xfrm>
          <a:prstGeom prst="roundRect">
            <a:avLst>
              <a:gd name="adj" fmla="val 20000"/>
            </a:avLst>
          </a:prstGeom>
          <a:solidFill>
            <a:srgbClr val="00BCD4">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39" name="Text 14"/>
          <p:cNvSpPr/>
          <p:nvPr/>
        </p:nvSpPr>
        <p:spPr>
          <a:xfrm>
            <a:off x="6272640" y="114300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03</a:t>
            </a:r>
            <a:endParaRPr lang="en-ZA" sz="900" b="0" u="none" strike="noStrike">
              <a:solidFill>
                <a:srgbClr val="FFFFFF"/>
              </a:solidFill>
              <a:effectLst/>
              <a:uFillTx/>
              <a:latin typeface="Arial"/>
            </a:endParaRPr>
          </a:p>
        </p:txBody>
      </p:sp>
      <p:sp>
        <p:nvSpPr>
          <p:cNvPr id="40" name="Text 15"/>
          <p:cNvSpPr/>
          <p:nvPr/>
        </p:nvSpPr>
        <p:spPr>
          <a:xfrm>
            <a:off x="6675120" y="112464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Preprocessing Flags</a:t>
            </a:r>
            <a:endParaRPr lang="en-ZA" sz="1100" b="0" u="none" strike="noStrike">
              <a:solidFill>
                <a:srgbClr val="FFFFFF"/>
              </a:solidFill>
              <a:effectLst/>
              <a:uFillTx/>
              <a:latin typeface="Arial"/>
            </a:endParaRPr>
          </a:p>
        </p:txBody>
      </p:sp>
      <p:sp>
        <p:nvSpPr>
          <p:cNvPr id="41" name="Text 16"/>
          <p:cNvSpPr/>
          <p:nvPr/>
        </p:nvSpPr>
        <p:spPr>
          <a:xfrm>
            <a:off x="6272640" y="148140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Two per-experiment controls:</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enabled (True/False) and distortion_aware (True/False).</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Enables clean without/with enhancement ablation.</a:t>
            </a:r>
            <a:endParaRPr lang="en-ZA" sz="900" b="0" u="none" strike="noStrike">
              <a:solidFill>
                <a:srgbClr val="FFFFFF"/>
              </a:solidFill>
              <a:effectLst/>
              <a:uFillTx/>
              <a:latin typeface="Arial"/>
            </a:endParaRPr>
          </a:p>
        </p:txBody>
      </p:sp>
      <p:sp>
        <p:nvSpPr>
          <p:cNvPr id="42" name="Shape 17"/>
          <p:cNvSpPr/>
          <p:nvPr/>
        </p:nvSpPr>
        <p:spPr>
          <a:xfrm>
            <a:off x="438840" y="2670120"/>
            <a:ext cx="2742840" cy="1535760"/>
          </a:xfrm>
          <a:prstGeom prst="roundRect">
            <a:avLst>
              <a:gd name="adj" fmla="val 5952"/>
            </a:avLst>
          </a:prstGeom>
          <a:solidFill>
            <a:srgbClr val="141F4A"/>
          </a:solidFill>
          <a:ln w="12700">
            <a:solidFill>
              <a:srgbClr val="26C281"/>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43" name="Shape 18"/>
          <p:cNvSpPr/>
          <p:nvPr/>
        </p:nvSpPr>
        <p:spPr>
          <a:xfrm>
            <a:off x="567000" y="2788920"/>
            <a:ext cx="347040" cy="273960"/>
          </a:xfrm>
          <a:prstGeom prst="roundRect">
            <a:avLst>
              <a:gd name="adj" fmla="val 20000"/>
            </a:avLst>
          </a:prstGeom>
          <a:solidFill>
            <a:srgbClr val="26C281">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44" name="Text 19"/>
          <p:cNvSpPr/>
          <p:nvPr/>
        </p:nvSpPr>
        <p:spPr>
          <a:xfrm>
            <a:off x="567000" y="278892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04</a:t>
            </a:r>
            <a:endParaRPr lang="en-ZA" sz="900" b="0" u="none" strike="noStrike">
              <a:solidFill>
                <a:srgbClr val="FFFFFF"/>
              </a:solidFill>
              <a:effectLst/>
              <a:uFillTx/>
              <a:latin typeface="Arial"/>
            </a:endParaRPr>
          </a:p>
        </p:txBody>
      </p:sp>
      <p:sp>
        <p:nvSpPr>
          <p:cNvPr id="45" name="Text 20"/>
          <p:cNvSpPr/>
          <p:nvPr/>
        </p:nvSpPr>
        <p:spPr>
          <a:xfrm>
            <a:off x="969120" y="277056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Experiment Run IDs</a:t>
            </a:r>
            <a:endParaRPr lang="en-ZA" sz="1100" b="0" u="none" strike="noStrike">
              <a:solidFill>
                <a:srgbClr val="FFFFFF"/>
              </a:solidFill>
              <a:effectLst/>
              <a:uFillTx/>
              <a:latin typeface="Arial"/>
            </a:endParaRPr>
          </a:p>
        </p:txBody>
      </p:sp>
      <p:sp>
        <p:nvSpPr>
          <p:cNvPr id="46" name="Text 21"/>
          <p:cNvSpPr/>
          <p:nvPr/>
        </p:nvSpPr>
        <p:spPr>
          <a:xfrm>
            <a:off x="567000" y="312732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run_001, run_002 … with run_meta.json storing git commit hash, config name, feature count, timestamp.</a:t>
            </a:r>
            <a:endParaRPr lang="en-ZA" sz="900" b="0" u="none" strike="noStrike">
              <a:solidFill>
                <a:srgbClr val="FFFFFF"/>
              </a:solidFill>
              <a:effectLst/>
              <a:uFillTx/>
              <a:latin typeface="Arial"/>
            </a:endParaRPr>
          </a:p>
        </p:txBody>
      </p:sp>
      <p:sp>
        <p:nvSpPr>
          <p:cNvPr id="47" name="Shape 22"/>
          <p:cNvSpPr/>
          <p:nvPr/>
        </p:nvSpPr>
        <p:spPr>
          <a:xfrm>
            <a:off x="3291840" y="2670120"/>
            <a:ext cx="2742840" cy="1535760"/>
          </a:xfrm>
          <a:prstGeom prst="roundRect">
            <a:avLst>
              <a:gd name="adj" fmla="val 5952"/>
            </a:avLst>
          </a:prstGeom>
          <a:solidFill>
            <a:srgbClr val="141F4A"/>
          </a:solidFill>
          <a:ln w="12700">
            <a:solidFill>
              <a:srgbClr val="4DD0E1"/>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48" name="Shape 23"/>
          <p:cNvSpPr/>
          <p:nvPr/>
        </p:nvSpPr>
        <p:spPr>
          <a:xfrm>
            <a:off x="3420000" y="2788920"/>
            <a:ext cx="347040" cy="273960"/>
          </a:xfrm>
          <a:prstGeom prst="roundRect">
            <a:avLst>
              <a:gd name="adj" fmla="val 20000"/>
            </a:avLst>
          </a:prstGeom>
          <a:solidFill>
            <a:srgbClr val="4DD0E1">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49" name="Text 24"/>
          <p:cNvSpPr/>
          <p:nvPr/>
        </p:nvSpPr>
        <p:spPr>
          <a:xfrm>
            <a:off x="3420000" y="278892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05</a:t>
            </a:r>
            <a:endParaRPr lang="en-ZA" sz="900" b="0" u="none" strike="noStrike">
              <a:solidFill>
                <a:srgbClr val="FFFFFF"/>
              </a:solidFill>
              <a:effectLst/>
              <a:uFillTx/>
              <a:latin typeface="Arial"/>
            </a:endParaRPr>
          </a:p>
        </p:txBody>
      </p:sp>
      <p:sp>
        <p:nvSpPr>
          <p:cNvPr id="50" name="Text 25"/>
          <p:cNvSpPr/>
          <p:nvPr/>
        </p:nvSpPr>
        <p:spPr>
          <a:xfrm>
            <a:off x="3822120" y="277056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Failure Taxonomy</a:t>
            </a:r>
            <a:endParaRPr lang="en-ZA" sz="1100" b="0" u="none" strike="noStrike">
              <a:solidFill>
                <a:srgbClr val="FFFFFF"/>
              </a:solidFill>
              <a:effectLst/>
              <a:uFillTx/>
              <a:latin typeface="Arial"/>
            </a:endParaRPr>
          </a:p>
        </p:txBody>
      </p:sp>
      <p:sp>
        <p:nvSpPr>
          <p:cNvPr id="51" name="Text 26"/>
          <p:cNvSpPr/>
          <p:nvPr/>
        </p:nvSpPr>
        <p:spPr>
          <a:xfrm>
            <a:off x="3420000" y="312732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Four explicit failure labels:</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file_missing · detection_failure</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tracking_failure · feature_failure</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Stored per video in failure_taxonomy.json.</a:t>
            </a:r>
            <a:endParaRPr lang="en-ZA" sz="900" b="0" u="none" strike="noStrike">
              <a:solidFill>
                <a:srgbClr val="FFFFFF"/>
              </a:solidFill>
              <a:effectLst/>
              <a:uFillTx/>
              <a:latin typeface="Arial"/>
            </a:endParaRPr>
          </a:p>
        </p:txBody>
      </p:sp>
      <p:sp>
        <p:nvSpPr>
          <p:cNvPr id="52" name="Shape 27"/>
          <p:cNvSpPr/>
          <p:nvPr/>
        </p:nvSpPr>
        <p:spPr>
          <a:xfrm>
            <a:off x="6144840" y="2670120"/>
            <a:ext cx="2742840" cy="1535760"/>
          </a:xfrm>
          <a:prstGeom prst="roundRect">
            <a:avLst>
              <a:gd name="adj" fmla="val 5952"/>
            </a:avLst>
          </a:prstGeom>
          <a:solidFill>
            <a:srgbClr val="141F4A"/>
          </a:solidFill>
          <a:ln w="12700">
            <a:solidFill>
              <a:srgbClr val="FFB74D"/>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53" name="Shape 28"/>
          <p:cNvSpPr/>
          <p:nvPr/>
        </p:nvSpPr>
        <p:spPr>
          <a:xfrm>
            <a:off x="6272640" y="2788920"/>
            <a:ext cx="347040" cy="273960"/>
          </a:xfrm>
          <a:prstGeom prst="roundRect">
            <a:avLst>
              <a:gd name="adj" fmla="val 20000"/>
            </a:avLst>
          </a:prstGeom>
          <a:solidFill>
            <a:srgbClr val="FFB74D">
              <a:alpha val="8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54" name="Text 29"/>
          <p:cNvSpPr/>
          <p:nvPr/>
        </p:nvSpPr>
        <p:spPr>
          <a:xfrm>
            <a:off x="6272640" y="2788920"/>
            <a:ext cx="347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06</a:t>
            </a:r>
            <a:endParaRPr lang="en-ZA" sz="900" b="0" u="none" strike="noStrike">
              <a:solidFill>
                <a:srgbClr val="FFFFFF"/>
              </a:solidFill>
              <a:effectLst/>
              <a:uFillTx/>
              <a:latin typeface="Arial"/>
            </a:endParaRPr>
          </a:p>
        </p:txBody>
      </p:sp>
      <p:sp>
        <p:nvSpPr>
          <p:cNvPr id="55" name="Text 30"/>
          <p:cNvSpPr/>
          <p:nvPr/>
        </p:nvSpPr>
        <p:spPr>
          <a:xfrm>
            <a:off x="6675120" y="2770560"/>
            <a:ext cx="20844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Confidence Outputs</a:t>
            </a:r>
            <a:endParaRPr lang="en-ZA" sz="1100" b="0" u="none" strike="noStrike">
              <a:solidFill>
                <a:srgbClr val="FFFFFF"/>
              </a:solidFill>
              <a:effectLst/>
              <a:uFillTx/>
              <a:latin typeface="Arial"/>
            </a:endParaRPr>
          </a:p>
        </p:txBody>
      </p:sp>
      <p:sp>
        <p:nvSpPr>
          <p:cNvPr id="56" name="Text 31"/>
          <p:cNvSpPr/>
          <p:nvPr/>
        </p:nvSpPr>
        <p:spPr>
          <a:xfrm>
            <a:off x="6272640" y="3127320"/>
            <a:ext cx="2486880" cy="941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7B8DB8"/>
                </a:solidFill>
                <a:effectLst/>
                <a:uFillTx/>
                <a:latin typeface="Calibri"/>
                <a:ea typeface="Calibri"/>
              </a:rPr>
              <a:t>class_probability (max prob per sample)</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track_confidence (track length ratio)</a:t>
            </a:r>
            <a:endParaRPr lang="en-ZA" sz="900" b="0" u="none" strike="noStrike">
              <a:solidFill>
                <a:srgbClr val="FFFFFF"/>
              </a:solidFill>
              <a:effectLst/>
              <a:uFillTx/>
              <a:latin typeface="Arial"/>
            </a:endParaRPr>
          </a:p>
          <a:p>
            <a:pPr defTabSz="914400">
              <a:lnSpc>
                <a:spcPct val="100000"/>
              </a:lnSpc>
              <a:tabLst>
                <a:tab pos="0" algn="l"/>
              </a:tabLst>
            </a:pPr>
            <a:r>
              <a:rPr lang="en-US" sz="900" b="0" u="none" strike="noStrike">
                <a:solidFill>
                  <a:srgbClr val="7B8DB8"/>
                </a:solidFill>
                <a:effectLst/>
                <a:uFillTx/>
                <a:latin typeface="Calibri"/>
                <a:ea typeface="Calibri"/>
              </a:rPr>
              <a:t>detector_confidence (valid-track fraction)</a:t>
            </a:r>
            <a:endParaRPr lang="en-ZA"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535"/>
        </a:solidFill>
      </p:bgPr>
    </p:bg>
    <p:spTree>
      <p:nvGrpSpPr>
        <p:cNvPr id="1" name=""/>
        <p:cNvGrpSpPr/>
        <p:nvPr/>
      </p:nvGrpSpPr>
      <p:grpSpPr>
        <a:xfrm>
          <a:off x="0" y="0"/>
          <a:ext cx="0" cy="0"/>
          <a:chOff x="0" y="0"/>
          <a:chExt cx="0" cy="0"/>
        </a:xfrm>
      </p:grpSpPr>
      <p:sp>
        <p:nvSpPr>
          <p:cNvPr id="57" name="Text 0"/>
          <p:cNvSpPr/>
          <p:nvPr/>
        </p:nvSpPr>
        <p:spPr>
          <a:xfrm>
            <a:off x="457200" y="201240"/>
            <a:ext cx="8229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0F4FF"/>
                </a:solidFill>
                <a:effectLst/>
                <a:uFillTx/>
                <a:latin typeface="Cambria"/>
                <a:ea typeface="Cambria"/>
              </a:rPr>
              <a:t>Five-Group Experiment Architecture</a:t>
            </a:r>
            <a:endParaRPr lang="en-ZA" sz="2200" b="0" u="none" strike="noStrike">
              <a:solidFill>
                <a:srgbClr val="FFFFFF"/>
              </a:solidFill>
              <a:effectLst/>
              <a:uFillTx/>
              <a:latin typeface="Arial"/>
            </a:endParaRPr>
          </a:p>
        </p:txBody>
      </p:sp>
      <p:sp>
        <p:nvSpPr>
          <p:cNvPr id="58" name="Text 1"/>
          <p:cNvSpPr/>
          <p:nvPr/>
        </p:nvSpPr>
        <p:spPr>
          <a:xfrm>
            <a:off x="457200" y="658440"/>
            <a:ext cx="8229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7B8DB8"/>
                </a:solidFill>
                <a:effectLst/>
                <a:uFillTx/>
                <a:latin typeface="Calibri"/>
                <a:ea typeface="Calibri"/>
              </a:rPr>
              <a:t>Primary contribution: Groups A &amp; B (classical + distortion-aware trajectory pipeline)</a:t>
            </a:r>
            <a:endParaRPr lang="en-ZA" sz="1100" b="0" u="none" strike="noStrike">
              <a:solidFill>
                <a:srgbClr val="FFFFFF"/>
              </a:solidFill>
              <a:effectLst/>
              <a:uFillTx/>
              <a:latin typeface="Arial"/>
            </a:endParaRPr>
          </a:p>
        </p:txBody>
      </p:sp>
      <p:sp>
        <p:nvSpPr>
          <p:cNvPr id="59" name="Shape 2"/>
          <p:cNvSpPr/>
          <p:nvPr/>
        </p:nvSpPr>
        <p:spPr>
          <a:xfrm>
            <a:off x="384120" y="1005840"/>
            <a:ext cx="1581480" cy="475200"/>
          </a:xfrm>
          <a:prstGeom prst="roundRect">
            <a:avLst>
              <a:gd name="adj" fmla="val 13462"/>
            </a:avLst>
          </a:prstGeom>
          <a:solidFill>
            <a:srgbClr val="00BCD4"/>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60" name="Text 3"/>
          <p:cNvSpPr/>
          <p:nvPr/>
        </p:nvSpPr>
        <p:spPr>
          <a:xfrm>
            <a:off x="384120" y="1005840"/>
            <a:ext cx="15814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80D24"/>
                </a:solidFill>
                <a:effectLst/>
                <a:uFillTx/>
                <a:latin typeface="Calibri"/>
                <a:ea typeface="Calibri"/>
              </a:rPr>
              <a:t>Group A</a:t>
            </a:r>
            <a:endParaRPr lang="en-ZA" sz="1100" b="0" u="none" strike="noStrike">
              <a:solidFill>
                <a:srgbClr val="FFFFFF"/>
              </a:solidFill>
              <a:effectLst/>
              <a:uFillTx/>
              <a:latin typeface="Arial"/>
            </a:endParaRPr>
          </a:p>
        </p:txBody>
      </p:sp>
      <p:sp>
        <p:nvSpPr>
          <p:cNvPr id="61" name="Text 4"/>
          <p:cNvSpPr/>
          <p:nvPr/>
        </p:nvSpPr>
        <p:spPr>
          <a:xfrm>
            <a:off x="384120" y="1261800"/>
            <a:ext cx="15814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80D24"/>
                </a:solidFill>
                <a:effectLst/>
                <a:uFillTx/>
                <a:latin typeface="Calibri"/>
                <a:ea typeface="Calibri"/>
              </a:rPr>
              <a:t>Classical Baseline</a:t>
            </a:r>
            <a:endParaRPr lang="en-ZA" sz="800" b="0" u="none" strike="noStrike">
              <a:solidFill>
                <a:srgbClr val="FFFFFF"/>
              </a:solidFill>
              <a:effectLst/>
              <a:uFillTx/>
              <a:latin typeface="Arial"/>
            </a:endParaRPr>
          </a:p>
        </p:txBody>
      </p:sp>
      <p:sp>
        <p:nvSpPr>
          <p:cNvPr id="62" name="Shape 5"/>
          <p:cNvSpPr/>
          <p:nvPr/>
        </p:nvSpPr>
        <p:spPr>
          <a:xfrm>
            <a:off x="475560" y="1508760"/>
            <a:ext cx="1398600" cy="200880"/>
          </a:xfrm>
          <a:prstGeom prst="roundRect">
            <a:avLst>
              <a:gd name="adj" fmla="val 18182"/>
            </a:avLst>
          </a:prstGeom>
          <a:solidFill>
            <a:srgbClr val="00BCD4">
              <a:alpha val="25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63" name="Text 6"/>
          <p:cNvSpPr/>
          <p:nvPr/>
        </p:nvSpPr>
        <p:spPr>
          <a:xfrm>
            <a:off x="475560" y="1508760"/>
            <a:ext cx="13986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00BCD4"/>
                </a:solidFill>
                <a:effectLst/>
                <a:uFillTx/>
                <a:latin typeface="Calibri"/>
                <a:ea typeface="Calibri"/>
              </a:rPr>
              <a:t>PRIMARY</a:t>
            </a:r>
            <a:endParaRPr lang="en-ZA" sz="700" b="0" u="none" strike="noStrike">
              <a:solidFill>
                <a:srgbClr val="FFFFFF"/>
              </a:solidFill>
              <a:effectLst/>
              <a:uFillTx/>
              <a:latin typeface="Arial"/>
            </a:endParaRPr>
          </a:p>
        </p:txBody>
      </p:sp>
      <p:sp>
        <p:nvSpPr>
          <p:cNvPr id="64" name="Shape 7"/>
          <p:cNvSpPr/>
          <p:nvPr/>
        </p:nvSpPr>
        <p:spPr>
          <a:xfrm>
            <a:off x="1165680" y="2130480"/>
            <a:ext cx="360" cy="109800"/>
          </a:xfrm>
          <a:prstGeom prst="line">
            <a:avLst/>
          </a:prstGeom>
          <a:ln w="12700">
            <a:solidFill>
              <a:srgbClr val="00BCD4"/>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65" name="Shape 8"/>
          <p:cNvSpPr/>
          <p:nvPr/>
        </p:nvSpPr>
        <p:spPr>
          <a:xfrm>
            <a:off x="475560" y="1783080"/>
            <a:ext cx="1398600" cy="347040"/>
          </a:xfrm>
          <a:prstGeom prst="roundRect">
            <a:avLst>
              <a:gd name="adj" fmla="val 15789"/>
            </a:avLst>
          </a:prstGeom>
          <a:solidFill>
            <a:srgbClr val="1A2D5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66" name="Text 9"/>
          <p:cNvSpPr/>
          <p:nvPr/>
        </p:nvSpPr>
        <p:spPr>
          <a:xfrm>
            <a:off x="475560" y="178308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Standard</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Preprocess</a:t>
            </a:r>
            <a:endParaRPr lang="en-ZA" sz="750" b="0" u="none" strike="noStrike">
              <a:solidFill>
                <a:srgbClr val="FFFFFF"/>
              </a:solidFill>
              <a:effectLst/>
              <a:uFillTx/>
              <a:latin typeface="Arial"/>
            </a:endParaRPr>
          </a:p>
        </p:txBody>
      </p:sp>
      <p:sp>
        <p:nvSpPr>
          <p:cNvPr id="67" name="Shape 10"/>
          <p:cNvSpPr/>
          <p:nvPr/>
        </p:nvSpPr>
        <p:spPr>
          <a:xfrm>
            <a:off x="1165680" y="2569320"/>
            <a:ext cx="360" cy="109800"/>
          </a:xfrm>
          <a:prstGeom prst="line">
            <a:avLst/>
          </a:prstGeom>
          <a:ln w="12700">
            <a:solidFill>
              <a:srgbClr val="00BCD4"/>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68" name="Shape 11"/>
          <p:cNvSpPr/>
          <p:nvPr/>
        </p:nvSpPr>
        <p:spPr>
          <a:xfrm>
            <a:off x="475560" y="2221920"/>
            <a:ext cx="1398600" cy="347040"/>
          </a:xfrm>
          <a:prstGeom prst="roundRect">
            <a:avLst>
              <a:gd name="adj" fmla="val 15789"/>
            </a:avLst>
          </a:prstGeom>
          <a:solidFill>
            <a:srgbClr val="1A2D5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69" name="Text 12"/>
          <p:cNvSpPr/>
          <p:nvPr/>
        </p:nvSpPr>
        <p:spPr>
          <a:xfrm>
            <a:off x="475560" y="222192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MOG2</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Detector</a:t>
            </a:r>
            <a:endParaRPr lang="en-ZA" sz="750" b="0" u="none" strike="noStrike">
              <a:solidFill>
                <a:srgbClr val="FFFFFF"/>
              </a:solidFill>
              <a:effectLst/>
              <a:uFillTx/>
              <a:latin typeface="Arial"/>
            </a:endParaRPr>
          </a:p>
        </p:txBody>
      </p:sp>
      <p:sp>
        <p:nvSpPr>
          <p:cNvPr id="70" name="Shape 13"/>
          <p:cNvSpPr/>
          <p:nvPr/>
        </p:nvSpPr>
        <p:spPr>
          <a:xfrm>
            <a:off x="1165680" y="3008160"/>
            <a:ext cx="360" cy="109800"/>
          </a:xfrm>
          <a:prstGeom prst="line">
            <a:avLst/>
          </a:prstGeom>
          <a:ln w="12700">
            <a:solidFill>
              <a:srgbClr val="00BCD4"/>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71" name="Shape 14"/>
          <p:cNvSpPr/>
          <p:nvPr/>
        </p:nvSpPr>
        <p:spPr>
          <a:xfrm>
            <a:off x="475560" y="2660760"/>
            <a:ext cx="1398600" cy="347040"/>
          </a:xfrm>
          <a:prstGeom prst="roundRect">
            <a:avLst>
              <a:gd name="adj" fmla="val 15789"/>
            </a:avLst>
          </a:prstGeom>
          <a:solidFill>
            <a:srgbClr val="1A2D5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72" name="Text 15"/>
          <p:cNvSpPr/>
          <p:nvPr/>
        </p:nvSpPr>
        <p:spPr>
          <a:xfrm>
            <a:off x="475560" y="26607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IoU+</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Hungarian</a:t>
            </a:r>
            <a:endParaRPr lang="en-ZA" sz="750" b="0" u="none" strike="noStrike">
              <a:solidFill>
                <a:srgbClr val="FFFFFF"/>
              </a:solidFill>
              <a:effectLst/>
              <a:uFillTx/>
              <a:latin typeface="Arial"/>
            </a:endParaRPr>
          </a:p>
        </p:txBody>
      </p:sp>
      <p:sp>
        <p:nvSpPr>
          <p:cNvPr id="73" name="Shape 16"/>
          <p:cNvSpPr/>
          <p:nvPr/>
        </p:nvSpPr>
        <p:spPr>
          <a:xfrm>
            <a:off x="1165680" y="3447000"/>
            <a:ext cx="360" cy="109800"/>
          </a:xfrm>
          <a:prstGeom prst="line">
            <a:avLst/>
          </a:prstGeom>
          <a:ln w="12700">
            <a:solidFill>
              <a:srgbClr val="00BCD4"/>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74" name="Shape 17"/>
          <p:cNvSpPr/>
          <p:nvPr/>
        </p:nvSpPr>
        <p:spPr>
          <a:xfrm>
            <a:off x="475560" y="3099960"/>
            <a:ext cx="1398600" cy="347040"/>
          </a:xfrm>
          <a:prstGeom prst="roundRect">
            <a:avLst>
              <a:gd name="adj" fmla="val 15789"/>
            </a:avLst>
          </a:prstGeom>
          <a:solidFill>
            <a:srgbClr val="1A2D5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75" name="Text 18"/>
          <p:cNvSpPr/>
          <p:nvPr/>
        </p:nvSpPr>
        <p:spPr>
          <a:xfrm>
            <a:off x="475560" y="30999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Trajectory</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Features (14)</a:t>
            </a:r>
            <a:endParaRPr lang="en-ZA" sz="750" b="0" u="none" strike="noStrike">
              <a:solidFill>
                <a:srgbClr val="FFFFFF"/>
              </a:solidFill>
              <a:effectLst/>
              <a:uFillTx/>
              <a:latin typeface="Arial"/>
            </a:endParaRPr>
          </a:p>
        </p:txBody>
      </p:sp>
      <p:sp>
        <p:nvSpPr>
          <p:cNvPr id="76" name="Shape 19"/>
          <p:cNvSpPr/>
          <p:nvPr/>
        </p:nvSpPr>
        <p:spPr>
          <a:xfrm>
            <a:off x="475560" y="3538800"/>
            <a:ext cx="1398600" cy="347040"/>
          </a:xfrm>
          <a:prstGeom prst="roundRect">
            <a:avLst>
              <a:gd name="adj" fmla="val 15789"/>
            </a:avLst>
          </a:prstGeom>
          <a:solidFill>
            <a:srgbClr val="00BCD4">
              <a:alpha val="90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77" name="Text 20"/>
          <p:cNvSpPr/>
          <p:nvPr/>
        </p:nvSpPr>
        <p:spPr>
          <a:xfrm>
            <a:off x="475560" y="353880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080D24"/>
                </a:solidFill>
                <a:effectLst/>
                <a:uFillTx/>
                <a:latin typeface="Calibri"/>
                <a:ea typeface="Calibri"/>
              </a:rPr>
              <a:t>RF / SVM</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080D24"/>
                </a:solidFill>
                <a:effectLst/>
                <a:uFillTx/>
                <a:latin typeface="Calibri"/>
                <a:ea typeface="Calibri"/>
              </a:rPr>
              <a:t>KNN / LGB</a:t>
            </a:r>
            <a:endParaRPr lang="en-ZA" sz="750" b="0" u="none" strike="noStrike">
              <a:solidFill>
                <a:srgbClr val="FFFFFF"/>
              </a:solidFill>
              <a:effectLst/>
              <a:uFillTx/>
              <a:latin typeface="Arial"/>
            </a:endParaRPr>
          </a:p>
        </p:txBody>
      </p:sp>
      <p:sp>
        <p:nvSpPr>
          <p:cNvPr id="78" name="Shape 21"/>
          <p:cNvSpPr/>
          <p:nvPr/>
        </p:nvSpPr>
        <p:spPr>
          <a:xfrm>
            <a:off x="2034720" y="1005840"/>
            <a:ext cx="1581480" cy="475200"/>
          </a:xfrm>
          <a:prstGeom prst="roundRect">
            <a:avLst>
              <a:gd name="adj" fmla="val 13462"/>
            </a:avLst>
          </a:prstGeom>
          <a:solidFill>
            <a:srgbClr val="26C281"/>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79" name="Text 22"/>
          <p:cNvSpPr/>
          <p:nvPr/>
        </p:nvSpPr>
        <p:spPr>
          <a:xfrm>
            <a:off x="2034720" y="1005840"/>
            <a:ext cx="15814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80D24"/>
                </a:solidFill>
                <a:effectLst/>
                <a:uFillTx/>
                <a:latin typeface="Calibri"/>
                <a:ea typeface="Calibri"/>
              </a:rPr>
              <a:t>Group B</a:t>
            </a:r>
            <a:endParaRPr lang="en-ZA" sz="1100" b="0" u="none" strike="noStrike">
              <a:solidFill>
                <a:srgbClr val="FFFFFF"/>
              </a:solidFill>
              <a:effectLst/>
              <a:uFillTx/>
              <a:latin typeface="Arial"/>
            </a:endParaRPr>
          </a:p>
        </p:txBody>
      </p:sp>
      <p:sp>
        <p:nvSpPr>
          <p:cNvPr id="80" name="Text 23"/>
          <p:cNvSpPr/>
          <p:nvPr/>
        </p:nvSpPr>
        <p:spPr>
          <a:xfrm>
            <a:off x="2034720" y="1261800"/>
            <a:ext cx="15814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80D24"/>
                </a:solidFill>
                <a:effectLst/>
                <a:uFillTx/>
                <a:latin typeface="Calibri"/>
                <a:ea typeface="Calibri"/>
              </a:rPr>
              <a:t>Distortion-Aware</a:t>
            </a:r>
            <a:endParaRPr lang="en-ZA" sz="800" b="0" u="none" strike="noStrike">
              <a:solidFill>
                <a:srgbClr val="FFFFFF"/>
              </a:solidFill>
              <a:effectLst/>
              <a:uFillTx/>
              <a:latin typeface="Arial"/>
            </a:endParaRPr>
          </a:p>
        </p:txBody>
      </p:sp>
      <p:sp>
        <p:nvSpPr>
          <p:cNvPr id="81" name="Shape 24"/>
          <p:cNvSpPr/>
          <p:nvPr/>
        </p:nvSpPr>
        <p:spPr>
          <a:xfrm>
            <a:off x="2126160" y="1508760"/>
            <a:ext cx="1398600" cy="200880"/>
          </a:xfrm>
          <a:prstGeom prst="roundRect">
            <a:avLst>
              <a:gd name="adj" fmla="val 18182"/>
            </a:avLst>
          </a:prstGeom>
          <a:solidFill>
            <a:srgbClr val="26C281">
              <a:alpha val="25000"/>
            </a:srgbClr>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82" name="Text 25"/>
          <p:cNvSpPr/>
          <p:nvPr/>
        </p:nvSpPr>
        <p:spPr>
          <a:xfrm>
            <a:off x="2126160" y="1508760"/>
            <a:ext cx="13986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26C281"/>
                </a:solidFill>
                <a:effectLst/>
                <a:uFillTx/>
                <a:latin typeface="Calibri"/>
                <a:ea typeface="Calibri"/>
              </a:rPr>
              <a:t>PRIMARY</a:t>
            </a:r>
            <a:endParaRPr lang="en-ZA" sz="700" b="0" u="none" strike="noStrike">
              <a:solidFill>
                <a:srgbClr val="FFFFFF"/>
              </a:solidFill>
              <a:effectLst/>
              <a:uFillTx/>
              <a:latin typeface="Arial"/>
            </a:endParaRPr>
          </a:p>
        </p:txBody>
      </p:sp>
      <p:sp>
        <p:nvSpPr>
          <p:cNvPr id="83" name="Shape 26"/>
          <p:cNvSpPr/>
          <p:nvPr/>
        </p:nvSpPr>
        <p:spPr>
          <a:xfrm>
            <a:off x="2816280" y="2130480"/>
            <a:ext cx="360" cy="109800"/>
          </a:xfrm>
          <a:prstGeom prst="line">
            <a:avLst/>
          </a:prstGeom>
          <a:ln w="12700">
            <a:solidFill>
              <a:srgbClr val="26C28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84" name="Shape 27"/>
          <p:cNvSpPr/>
          <p:nvPr/>
        </p:nvSpPr>
        <p:spPr>
          <a:xfrm>
            <a:off x="2126160" y="1783080"/>
            <a:ext cx="1398600" cy="347040"/>
          </a:xfrm>
          <a:prstGeom prst="roundRect">
            <a:avLst>
              <a:gd name="adj" fmla="val 15789"/>
            </a:avLst>
          </a:prstGeom>
          <a:solidFill>
            <a:srgbClr val="1A2D5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85" name="Text 28"/>
          <p:cNvSpPr/>
          <p:nvPr/>
        </p:nvSpPr>
        <p:spPr>
          <a:xfrm>
            <a:off x="2126160" y="178308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Distortion</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Estimation</a:t>
            </a:r>
            <a:endParaRPr lang="en-ZA" sz="750" b="0" u="none" strike="noStrike">
              <a:solidFill>
                <a:srgbClr val="FFFFFF"/>
              </a:solidFill>
              <a:effectLst/>
              <a:uFillTx/>
              <a:latin typeface="Arial"/>
            </a:endParaRPr>
          </a:p>
        </p:txBody>
      </p:sp>
      <p:sp>
        <p:nvSpPr>
          <p:cNvPr id="86" name="Shape 29"/>
          <p:cNvSpPr/>
          <p:nvPr/>
        </p:nvSpPr>
        <p:spPr>
          <a:xfrm>
            <a:off x="2816280" y="2569320"/>
            <a:ext cx="360" cy="109800"/>
          </a:xfrm>
          <a:prstGeom prst="line">
            <a:avLst/>
          </a:prstGeom>
          <a:ln w="12700">
            <a:solidFill>
              <a:srgbClr val="26C28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87" name="Shape 30"/>
          <p:cNvSpPr/>
          <p:nvPr/>
        </p:nvSpPr>
        <p:spPr>
          <a:xfrm>
            <a:off x="2126160" y="2221920"/>
            <a:ext cx="1398600" cy="347040"/>
          </a:xfrm>
          <a:prstGeom prst="roundRect">
            <a:avLst>
              <a:gd name="adj" fmla="val 15789"/>
            </a:avLst>
          </a:prstGeom>
          <a:solidFill>
            <a:srgbClr val="1A2D5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88" name="Text 31"/>
          <p:cNvSpPr/>
          <p:nvPr/>
        </p:nvSpPr>
        <p:spPr>
          <a:xfrm>
            <a:off x="2126160" y="222192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Adaptive</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Enhancement</a:t>
            </a:r>
            <a:endParaRPr lang="en-ZA" sz="750" b="0" u="none" strike="noStrike">
              <a:solidFill>
                <a:srgbClr val="FFFFFF"/>
              </a:solidFill>
              <a:effectLst/>
              <a:uFillTx/>
              <a:latin typeface="Arial"/>
            </a:endParaRPr>
          </a:p>
        </p:txBody>
      </p:sp>
      <p:sp>
        <p:nvSpPr>
          <p:cNvPr id="89" name="Shape 32"/>
          <p:cNvSpPr/>
          <p:nvPr/>
        </p:nvSpPr>
        <p:spPr>
          <a:xfrm>
            <a:off x="2816280" y="3008160"/>
            <a:ext cx="360" cy="109800"/>
          </a:xfrm>
          <a:prstGeom prst="line">
            <a:avLst/>
          </a:prstGeom>
          <a:ln w="12700">
            <a:solidFill>
              <a:srgbClr val="26C28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90" name="Shape 33"/>
          <p:cNvSpPr/>
          <p:nvPr/>
        </p:nvSpPr>
        <p:spPr>
          <a:xfrm>
            <a:off x="2126160" y="2660760"/>
            <a:ext cx="1398600" cy="347040"/>
          </a:xfrm>
          <a:prstGeom prst="roundRect">
            <a:avLst>
              <a:gd name="adj" fmla="val 15789"/>
            </a:avLst>
          </a:prstGeom>
          <a:solidFill>
            <a:srgbClr val="1A2D5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91" name="Text 34"/>
          <p:cNvSpPr/>
          <p:nvPr/>
        </p:nvSpPr>
        <p:spPr>
          <a:xfrm>
            <a:off x="2126160" y="26607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MOG2 +</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IoU Track</a:t>
            </a:r>
            <a:endParaRPr lang="en-ZA" sz="750" b="0" u="none" strike="noStrike">
              <a:solidFill>
                <a:srgbClr val="FFFFFF"/>
              </a:solidFill>
              <a:effectLst/>
              <a:uFillTx/>
              <a:latin typeface="Arial"/>
            </a:endParaRPr>
          </a:p>
        </p:txBody>
      </p:sp>
      <p:sp>
        <p:nvSpPr>
          <p:cNvPr id="92" name="Shape 35"/>
          <p:cNvSpPr/>
          <p:nvPr/>
        </p:nvSpPr>
        <p:spPr>
          <a:xfrm>
            <a:off x="2816280" y="3447000"/>
            <a:ext cx="360" cy="109800"/>
          </a:xfrm>
          <a:prstGeom prst="line">
            <a:avLst/>
          </a:prstGeom>
          <a:ln w="12700">
            <a:solidFill>
              <a:srgbClr val="26C28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93" name="Shape 36"/>
          <p:cNvSpPr/>
          <p:nvPr/>
        </p:nvSpPr>
        <p:spPr>
          <a:xfrm>
            <a:off x="2126160" y="3099960"/>
            <a:ext cx="1398600" cy="347040"/>
          </a:xfrm>
          <a:prstGeom prst="roundRect">
            <a:avLst>
              <a:gd name="adj" fmla="val 15789"/>
            </a:avLst>
          </a:prstGeom>
          <a:solidFill>
            <a:srgbClr val="1A2D5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94" name="Text 37"/>
          <p:cNvSpPr/>
          <p:nvPr/>
        </p:nvSpPr>
        <p:spPr>
          <a:xfrm>
            <a:off x="2126160" y="30999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Full Features</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(133)</a:t>
            </a:r>
            <a:endParaRPr lang="en-ZA" sz="750" b="0" u="none" strike="noStrike">
              <a:solidFill>
                <a:srgbClr val="FFFFFF"/>
              </a:solidFill>
              <a:effectLst/>
              <a:uFillTx/>
              <a:latin typeface="Arial"/>
            </a:endParaRPr>
          </a:p>
        </p:txBody>
      </p:sp>
      <p:sp>
        <p:nvSpPr>
          <p:cNvPr id="95" name="Shape 38"/>
          <p:cNvSpPr/>
          <p:nvPr/>
        </p:nvSpPr>
        <p:spPr>
          <a:xfrm>
            <a:off x="2126160" y="3538800"/>
            <a:ext cx="1398600" cy="347040"/>
          </a:xfrm>
          <a:prstGeom prst="roundRect">
            <a:avLst>
              <a:gd name="adj" fmla="val 15789"/>
            </a:avLst>
          </a:prstGeom>
          <a:solidFill>
            <a:srgbClr val="26C281">
              <a:alpha val="90000"/>
            </a:srgbClr>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96" name="Text 39"/>
          <p:cNvSpPr/>
          <p:nvPr/>
        </p:nvSpPr>
        <p:spPr>
          <a:xfrm>
            <a:off x="2126160" y="353880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080D24"/>
                </a:solidFill>
                <a:effectLst/>
                <a:uFillTx/>
                <a:latin typeface="Calibri"/>
                <a:ea typeface="Calibri"/>
              </a:rPr>
              <a:t>RF /</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080D24"/>
                </a:solidFill>
                <a:effectLst/>
                <a:uFillTx/>
                <a:latin typeface="Calibri"/>
                <a:ea typeface="Calibri"/>
              </a:rPr>
              <a:t>LightGBM</a:t>
            </a:r>
            <a:endParaRPr lang="en-ZA" sz="750" b="0" u="none" strike="noStrike">
              <a:solidFill>
                <a:srgbClr val="FFFFFF"/>
              </a:solidFill>
              <a:effectLst/>
              <a:uFillTx/>
              <a:latin typeface="Arial"/>
            </a:endParaRPr>
          </a:p>
        </p:txBody>
      </p:sp>
      <p:sp>
        <p:nvSpPr>
          <p:cNvPr id="97" name="Shape 40"/>
          <p:cNvSpPr/>
          <p:nvPr/>
        </p:nvSpPr>
        <p:spPr>
          <a:xfrm>
            <a:off x="3684960" y="1005840"/>
            <a:ext cx="1581480" cy="475200"/>
          </a:xfrm>
          <a:prstGeom prst="roundRect">
            <a:avLst>
              <a:gd name="adj" fmla="val 13462"/>
            </a:avLst>
          </a:prstGeom>
          <a:solidFill>
            <a:srgbClr val="FFB74D">
              <a:alpha val="7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98" name="Text 41"/>
          <p:cNvSpPr/>
          <p:nvPr/>
        </p:nvSpPr>
        <p:spPr>
          <a:xfrm>
            <a:off x="3684960" y="1005840"/>
            <a:ext cx="15814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0F4FF"/>
                </a:solidFill>
                <a:effectLst/>
                <a:uFillTx/>
                <a:latin typeface="Calibri"/>
                <a:ea typeface="Calibri"/>
              </a:rPr>
              <a:t>Group C</a:t>
            </a:r>
            <a:endParaRPr lang="en-ZA" sz="1100" b="0" u="none" strike="noStrike">
              <a:solidFill>
                <a:srgbClr val="FFFFFF"/>
              </a:solidFill>
              <a:effectLst/>
              <a:uFillTx/>
              <a:latin typeface="Arial"/>
            </a:endParaRPr>
          </a:p>
        </p:txBody>
      </p:sp>
      <p:sp>
        <p:nvSpPr>
          <p:cNvPr id="99" name="Text 42"/>
          <p:cNvSpPr/>
          <p:nvPr/>
        </p:nvSpPr>
        <p:spPr>
          <a:xfrm>
            <a:off x="3684960" y="1261800"/>
            <a:ext cx="15814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7B8DB8"/>
                </a:solidFill>
                <a:effectLst/>
                <a:uFillTx/>
                <a:latin typeface="Calibri"/>
                <a:ea typeface="Calibri"/>
              </a:rPr>
              <a:t>Neural Comparison</a:t>
            </a:r>
            <a:endParaRPr lang="en-ZA" sz="800" b="0" u="none" strike="noStrike">
              <a:solidFill>
                <a:srgbClr val="FFFFFF"/>
              </a:solidFill>
              <a:effectLst/>
              <a:uFillTx/>
              <a:latin typeface="Arial"/>
            </a:endParaRPr>
          </a:p>
        </p:txBody>
      </p:sp>
      <p:sp>
        <p:nvSpPr>
          <p:cNvPr id="100" name="Shape 43"/>
          <p:cNvSpPr/>
          <p:nvPr/>
        </p:nvSpPr>
        <p:spPr>
          <a:xfrm>
            <a:off x="3776400" y="1508760"/>
            <a:ext cx="1398600" cy="200880"/>
          </a:xfrm>
          <a:prstGeom prst="roundRect">
            <a:avLst>
              <a:gd name="adj" fmla="val 18182"/>
            </a:avLst>
          </a:prstGeom>
          <a:solidFill>
            <a:srgbClr val="FFB74D">
              <a:alpha val="25000"/>
            </a:srgbClr>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01" name="Text 44"/>
          <p:cNvSpPr/>
          <p:nvPr/>
        </p:nvSpPr>
        <p:spPr>
          <a:xfrm>
            <a:off x="3776400" y="1508760"/>
            <a:ext cx="13986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B74D"/>
                </a:solidFill>
                <a:effectLst/>
                <a:uFillTx/>
                <a:latin typeface="Calibri"/>
                <a:ea typeface="Calibri"/>
              </a:rPr>
              <a:t>COMPARISON ONLY</a:t>
            </a:r>
            <a:endParaRPr lang="en-ZA" sz="700" b="0" u="none" strike="noStrike">
              <a:solidFill>
                <a:srgbClr val="FFFFFF"/>
              </a:solidFill>
              <a:effectLst/>
              <a:uFillTx/>
              <a:latin typeface="Arial"/>
            </a:endParaRPr>
          </a:p>
        </p:txBody>
      </p:sp>
      <p:sp>
        <p:nvSpPr>
          <p:cNvPr id="102" name="Shape 45"/>
          <p:cNvSpPr/>
          <p:nvPr/>
        </p:nvSpPr>
        <p:spPr>
          <a:xfrm>
            <a:off x="4466520" y="2130480"/>
            <a:ext cx="360" cy="109800"/>
          </a:xfrm>
          <a:prstGeom prst="line">
            <a:avLst/>
          </a:prstGeom>
          <a:ln w="12700">
            <a:solidFill>
              <a:srgbClr val="FFB74D"/>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03" name="Shape 46"/>
          <p:cNvSpPr/>
          <p:nvPr/>
        </p:nvSpPr>
        <p:spPr>
          <a:xfrm>
            <a:off x="3776400" y="1783080"/>
            <a:ext cx="1398600" cy="347040"/>
          </a:xfrm>
          <a:prstGeom prst="roundRect">
            <a:avLst>
              <a:gd name="adj" fmla="val 15789"/>
            </a:avLst>
          </a:prstGeom>
          <a:solidFill>
            <a:srgbClr val="1A2D5A"/>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04" name="Text 47"/>
          <p:cNvSpPr/>
          <p:nvPr/>
        </p:nvSpPr>
        <p:spPr>
          <a:xfrm>
            <a:off x="3776400" y="178308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Raw</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Frames</a:t>
            </a:r>
            <a:endParaRPr lang="en-ZA" sz="750" b="0" u="none" strike="noStrike">
              <a:solidFill>
                <a:srgbClr val="FFFFFF"/>
              </a:solidFill>
              <a:effectLst/>
              <a:uFillTx/>
              <a:latin typeface="Arial"/>
            </a:endParaRPr>
          </a:p>
        </p:txBody>
      </p:sp>
      <p:sp>
        <p:nvSpPr>
          <p:cNvPr id="105" name="Shape 48"/>
          <p:cNvSpPr/>
          <p:nvPr/>
        </p:nvSpPr>
        <p:spPr>
          <a:xfrm>
            <a:off x="4466520" y="2569320"/>
            <a:ext cx="360" cy="109800"/>
          </a:xfrm>
          <a:prstGeom prst="line">
            <a:avLst/>
          </a:prstGeom>
          <a:ln w="12700">
            <a:solidFill>
              <a:srgbClr val="FFB74D"/>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06" name="Shape 49"/>
          <p:cNvSpPr/>
          <p:nvPr/>
        </p:nvSpPr>
        <p:spPr>
          <a:xfrm>
            <a:off x="3776400" y="2221920"/>
            <a:ext cx="1398600" cy="347040"/>
          </a:xfrm>
          <a:prstGeom prst="roundRect">
            <a:avLst>
              <a:gd name="adj" fmla="val 15789"/>
            </a:avLst>
          </a:prstGeom>
          <a:solidFill>
            <a:srgbClr val="1A2D5A"/>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07" name="Text 50"/>
          <p:cNvSpPr/>
          <p:nvPr/>
        </p:nvSpPr>
        <p:spPr>
          <a:xfrm>
            <a:off x="3776400" y="222192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Clip</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Sampling</a:t>
            </a:r>
            <a:endParaRPr lang="en-ZA" sz="750" b="0" u="none" strike="noStrike">
              <a:solidFill>
                <a:srgbClr val="FFFFFF"/>
              </a:solidFill>
              <a:effectLst/>
              <a:uFillTx/>
              <a:latin typeface="Arial"/>
            </a:endParaRPr>
          </a:p>
        </p:txBody>
      </p:sp>
      <p:sp>
        <p:nvSpPr>
          <p:cNvPr id="108" name="Shape 51"/>
          <p:cNvSpPr/>
          <p:nvPr/>
        </p:nvSpPr>
        <p:spPr>
          <a:xfrm>
            <a:off x="4466520" y="3008160"/>
            <a:ext cx="360" cy="109800"/>
          </a:xfrm>
          <a:prstGeom prst="line">
            <a:avLst/>
          </a:prstGeom>
          <a:ln w="12700">
            <a:solidFill>
              <a:srgbClr val="FFB74D"/>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09" name="Shape 52"/>
          <p:cNvSpPr/>
          <p:nvPr/>
        </p:nvSpPr>
        <p:spPr>
          <a:xfrm>
            <a:off x="3776400" y="2660760"/>
            <a:ext cx="1398600" cy="347040"/>
          </a:xfrm>
          <a:prstGeom prst="roundRect">
            <a:avLst>
              <a:gd name="adj" fmla="val 15789"/>
            </a:avLst>
          </a:prstGeom>
          <a:solidFill>
            <a:srgbClr val="1A2D5A"/>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10" name="Text 53"/>
          <p:cNvSpPr/>
          <p:nvPr/>
        </p:nvSpPr>
        <p:spPr>
          <a:xfrm>
            <a:off x="3776400" y="26607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CNN /</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CNN+LSTM</a:t>
            </a:r>
            <a:endParaRPr lang="en-ZA" sz="750" b="0" u="none" strike="noStrike">
              <a:solidFill>
                <a:srgbClr val="FFFFFF"/>
              </a:solidFill>
              <a:effectLst/>
              <a:uFillTx/>
              <a:latin typeface="Arial"/>
            </a:endParaRPr>
          </a:p>
        </p:txBody>
      </p:sp>
      <p:sp>
        <p:nvSpPr>
          <p:cNvPr id="111" name="Shape 54"/>
          <p:cNvSpPr/>
          <p:nvPr/>
        </p:nvSpPr>
        <p:spPr>
          <a:xfrm>
            <a:off x="4466520" y="3447000"/>
            <a:ext cx="360" cy="109800"/>
          </a:xfrm>
          <a:prstGeom prst="line">
            <a:avLst/>
          </a:prstGeom>
          <a:ln w="12700">
            <a:solidFill>
              <a:srgbClr val="FFB74D"/>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12" name="Shape 55"/>
          <p:cNvSpPr/>
          <p:nvPr/>
        </p:nvSpPr>
        <p:spPr>
          <a:xfrm>
            <a:off x="3776400" y="3099960"/>
            <a:ext cx="1398600" cy="347040"/>
          </a:xfrm>
          <a:prstGeom prst="roundRect">
            <a:avLst>
              <a:gd name="adj" fmla="val 15789"/>
            </a:avLst>
          </a:prstGeom>
          <a:solidFill>
            <a:srgbClr val="1A2D5A"/>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13" name="Text 56"/>
          <p:cNvSpPr/>
          <p:nvPr/>
        </p:nvSpPr>
        <p:spPr>
          <a:xfrm>
            <a:off x="3776400" y="30999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3D-CNN</a:t>
            </a:r>
            <a:endParaRPr lang="en-ZA" sz="750" b="0" u="none" strike="noStrike">
              <a:solidFill>
                <a:srgbClr val="FFFFFF"/>
              </a:solidFill>
              <a:effectLst/>
              <a:uFillTx/>
              <a:latin typeface="Arial"/>
            </a:endParaRPr>
          </a:p>
        </p:txBody>
      </p:sp>
      <p:sp>
        <p:nvSpPr>
          <p:cNvPr id="114" name="Shape 57"/>
          <p:cNvSpPr/>
          <p:nvPr/>
        </p:nvSpPr>
        <p:spPr>
          <a:xfrm>
            <a:off x="3776400" y="3538800"/>
            <a:ext cx="1398600" cy="347040"/>
          </a:xfrm>
          <a:prstGeom prst="roundRect">
            <a:avLst>
              <a:gd name="adj" fmla="val 15789"/>
            </a:avLst>
          </a:prstGeom>
          <a:solidFill>
            <a:srgbClr val="FFB74D">
              <a:alpha val="90000"/>
            </a:srgbClr>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15" name="Text 58"/>
          <p:cNvSpPr/>
          <p:nvPr/>
        </p:nvSpPr>
        <p:spPr>
          <a:xfrm>
            <a:off x="3776400" y="353880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080D24"/>
                </a:solidFill>
                <a:effectLst/>
                <a:uFillTx/>
                <a:latin typeface="Calibri"/>
                <a:ea typeface="Calibri"/>
              </a:rPr>
              <a:t>classification</a:t>
            </a:r>
            <a:endParaRPr lang="en-ZA" sz="750" b="0" u="none" strike="noStrike">
              <a:solidFill>
                <a:srgbClr val="FFFFFF"/>
              </a:solidFill>
              <a:effectLst/>
              <a:uFillTx/>
              <a:latin typeface="Arial"/>
            </a:endParaRPr>
          </a:p>
        </p:txBody>
      </p:sp>
      <p:sp>
        <p:nvSpPr>
          <p:cNvPr id="116" name="Shape 59"/>
          <p:cNvSpPr/>
          <p:nvPr/>
        </p:nvSpPr>
        <p:spPr>
          <a:xfrm>
            <a:off x="5335560" y="1005840"/>
            <a:ext cx="1581480" cy="475200"/>
          </a:xfrm>
          <a:prstGeom prst="roundRect">
            <a:avLst>
              <a:gd name="adj" fmla="val 13462"/>
            </a:avLst>
          </a:prstGeom>
          <a:solidFill>
            <a:srgbClr val="4DD0E1">
              <a:alpha val="7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17" name="Text 60"/>
          <p:cNvSpPr/>
          <p:nvPr/>
        </p:nvSpPr>
        <p:spPr>
          <a:xfrm>
            <a:off x="5335560" y="1005840"/>
            <a:ext cx="15814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0F4FF"/>
                </a:solidFill>
                <a:effectLst/>
                <a:uFillTx/>
                <a:latin typeface="Calibri"/>
                <a:ea typeface="Calibri"/>
              </a:rPr>
              <a:t>Group D</a:t>
            </a:r>
            <a:endParaRPr lang="en-ZA" sz="1100" b="0" u="none" strike="noStrike">
              <a:solidFill>
                <a:srgbClr val="FFFFFF"/>
              </a:solidFill>
              <a:effectLst/>
              <a:uFillTx/>
              <a:latin typeface="Arial"/>
            </a:endParaRPr>
          </a:p>
        </p:txBody>
      </p:sp>
      <p:sp>
        <p:nvSpPr>
          <p:cNvPr id="118" name="Text 61"/>
          <p:cNvSpPr/>
          <p:nvPr/>
        </p:nvSpPr>
        <p:spPr>
          <a:xfrm>
            <a:off x="5335560" y="1261800"/>
            <a:ext cx="15814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7B8DB8"/>
                </a:solidFill>
                <a:effectLst/>
                <a:uFillTx/>
                <a:latin typeface="Calibri"/>
                <a:ea typeface="Calibri"/>
              </a:rPr>
              <a:t>Hybrid Fusion</a:t>
            </a:r>
            <a:endParaRPr lang="en-ZA" sz="800" b="0" u="none" strike="noStrike">
              <a:solidFill>
                <a:srgbClr val="FFFFFF"/>
              </a:solidFill>
              <a:effectLst/>
              <a:uFillTx/>
              <a:latin typeface="Arial"/>
            </a:endParaRPr>
          </a:p>
        </p:txBody>
      </p:sp>
      <p:sp>
        <p:nvSpPr>
          <p:cNvPr id="119" name="Shape 62"/>
          <p:cNvSpPr/>
          <p:nvPr/>
        </p:nvSpPr>
        <p:spPr>
          <a:xfrm>
            <a:off x="5427000" y="1508760"/>
            <a:ext cx="1398600" cy="200880"/>
          </a:xfrm>
          <a:prstGeom prst="roundRect">
            <a:avLst>
              <a:gd name="adj" fmla="val 18182"/>
            </a:avLst>
          </a:prstGeom>
          <a:solidFill>
            <a:srgbClr val="4DD0E1">
              <a:alpha val="25000"/>
            </a:srgbClr>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20" name="Text 63"/>
          <p:cNvSpPr/>
          <p:nvPr/>
        </p:nvSpPr>
        <p:spPr>
          <a:xfrm>
            <a:off x="5427000" y="1508760"/>
            <a:ext cx="13986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4DD0E1"/>
                </a:solidFill>
                <a:effectLst/>
                <a:uFillTx/>
                <a:latin typeface="Calibri"/>
                <a:ea typeface="Calibri"/>
              </a:rPr>
              <a:t>HYBRID</a:t>
            </a:r>
            <a:endParaRPr lang="en-ZA" sz="700" b="0" u="none" strike="noStrike">
              <a:solidFill>
                <a:srgbClr val="FFFFFF"/>
              </a:solidFill>
              <a:effectLst/>
              <a:uFillTx/>
              <a:latin typeface="Arial"/>
            </a:endParaRPr>
          </a:p>
        </p:txBody>
      </p:sp>
      <p:sp>
        <p:nvSpPr>
          <p:cNvPr id="121" name="Shape 64"/>
          <p:cNvSpPr/>
          <p:nvPr/>
        </p:nvSpPr>
        <p:spPr>
          <a:xfrm>
            <a:off x="6117120" y="2130480"/>
            <a:ext cx="360" cy="109800"/>
          </a:xfrm>
          <a:prstGeom prst="line">
            <a:avLst/>
          </a:prstGeom>
          <a:ln w="12700">
            <a:solidFill>
              <a:srgbClr val="4DD0E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22" name="Shape 65"/>
          <p:cNvSpPr/>
          <p:nvPr/>
        </p:nvSpPr>
        <p:spPr>
          <a:xfrm>
            <a:off x="5427000" y="1783080"/>
            <a:ext cx="1398600" cy="347040"/>
          </a:xfrm>
          <a:prstGeom prst="roundRect">
            <a:avLst>
              <a:gd name="adj" fmla="val 15789"/>
            </a:avLst>
          </a:prstGeom>
          <a:solidFill>
            <a:srgbClr val="1A2D5A"/>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23" name="Text 66"/>
          <p:cNvSpPr/>
          <p:nvPr/>
        </p:nvSpPr>
        <p:spPr>
          <a:xfrm>
            <a:off x="5427000" y="178308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Distortion</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Enhance</a:t>
            </a:r>
            <a:endParaRPr lang="en-ZA" sz="750" b="0" u="none" strike="noStrike">
              <a:solidFill>
                <a:srgbClr val="FFFFFF"/>
              </a:solidFill>
              <a:effectLst/>
              <a:uFillTx/>
              <a:latin typeface="Arial"/>
            </a:endParaRPr>
          </a:p>
        </p:txBody>
      </p:sp>
      <p:sp>
        <p:nvSpPr>
          <p:cNvPr id="124" name="Shape 67"/>
          <p:cNvSpPr/>
          <p:nvPr/>
        </p:nvSpPr>
        <p:spPr>
          <a:xfrm>
            <a:off x="6117120" y="2569320"/>
            <a:ext cx="360" cy="109800"/>
          </a:xfrm>
          <a:prstGeom prst="line">
            <a:avLst/>
          </a:prstGeom>
          <a:ln w="12700">
            <a:solidFill>
              <a:srgbClr val="4DD0E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25" name="Shape 68"/>
          <p:cNvSpPr/>
          <p:nvPr/>
        </p:nvSpPr>
        <p:spPr>
          <a:xfrm>
            <a:off x="5427000" y="2221920"/>
            <a:ext cx="1398600" cy="347040"/>
          </a:xfrm>
          <a:prstGeom prst="roundRect">
            <a:avLst>
              <a:gd name="adj" fmla="val 15789"/>
            </a:avLst>
          </a:prstGeom>
          <a:solidFill>
            <a:srgbClr val="1A2D5A"/>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26" name="Text 69"/>
          <p:cNvSpPr/>
          <p:nvPr/>
        </p:nvSpPr>
        <p:spPr>
          <a:xfrm>
            <a:off x="5427000" y="222192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Tracking +</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Handcrafted</a:t>
            </a:r>
            <a:endParaRPr lang="en-ZA" sz="750" b="0" u="none" strike="noStrike">
              <a:solidFill>
                <a:srgbClr val="FFFFFF"/>
              </a:solidFill>
              <a:effectLst/>
              <a:uFillTx/>
              <a:latin typeface="Arial"/>
            </a:endParaRPr>
          </a:p>
        </p:txBody>
      </p:sp>
      <p:sp>
        <p:nvSpPr>
          <p:cNvPr id="127" name="Shape 70"/>
          <p:cNvSpPr/>
          <p:nvPr/>
        </p:nvSpPr>
        <p:spPr>
          <a:xfrm>
            <a:off x="6117120" y="3008160"/>
            <a:ext cx="360" cy="109800"/>
          </a:xfrm>
          <a:prstGeom prst="line">
            <a:avLst/>
          </a:prstGeom>
          <a:ln w="12700">
            <a:solidFill>
              <a:srgbClr val="4DD0E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28" name="Shape 71"/>
          <p:cNvSpPr/>
          <p:nvPr/>
        </p:nvSpPr>
        <p:spPr>
          <a:xfrm>
            <a:off x="5427000" y="2660760"/>
            <a:ext cx="1398600" cy="347040"/>
          </a:xfrm>
          <a:prstGeom prst="roundRect">
            <a:avLst>
              <a:gd name="adj" fmla="val 15789"/>
            </a:avLst>
          </a:prstGeom>
          <a:solidFill>
            <a:srgbClr val="1A2D5A"/>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29" name="Text 72"/>
          <p:cNvSpPr/>
          <p:nvPr/>
        </p:nvSpPr>
        <p:spPr>
          <a:xfrm>
            <a:off x="5427000" y="26607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CNN</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Embeddings</a:t>
            </a:r>
            <a:endParaRPr lang="en-ZA" sz="750" b="0" u="none" strike="noStrike">
              <a:solidFill>
                <a:srgbClr val="FFFFFF"/>
              </a:solidFill>
              <a:effectLst/>
              <a:uFillTx/>
              <a:latin typeface="Arial"/>
            </a:endParaRPr>
          </a:p>
        </p:txBody>
      </p:sp>
      <p:sp>
        <p:nvSpPr>
          <p:cNvPr id="130" name="Shape 73"/>
          <p:cNvSpPr/>
          <p:nvPr/>
        </p:nvSpPr>
        <p:spPr>
          <a:xfrm>
            <a:off x="6117120" y="3447000"/>
            <a:ext cx="360" cy="109800"/>
          </a:xfrm>
          <a:prstGeom prst="line">
            <a:avLst/>
          </a:prstGeom>
          <a:ln w="12700">
            <a:solidFill>
              <a:srgbClr val="4DD0E1"/>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31" name="Shape 74"/>
          <p:cNvSpPr/>
          <p:nvPr/>
        </p:nvSpPr>
        <p:spPr>
          <a:xfrm>
            <a:off x="5427000" y="3099960"/>
            <a:ext cx="1398600" cy="347040"/>
          </a:xfrm>
          <a:prstGeom prst="roundRect">
            <a:avLst>
              <a:gd name="adj" fmla="val 15789"/>
            </a:avLst>
          </a:prstGeom>
          <a:solidFill>
            <a:srgbClr val="1A2D5A"/>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32" name="Text 75"/>
          <p:cNvSpPr/>
          <p:nvPr/>
        </p:nvSpPr>
        <p:spPr>
          <a:xfrm>
            <a:off x="5427000" y="30999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Feature</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Fusion</a:t>
            </a:r>
            <a:endParaRPr lang="en-ZA" sz="750" b="0" u="none" strike="noStrike">
              <a:solidFill>
                <a:srgbClr val="FFFFFF"/>
              </a:solidFill>
              <a:effectLst/>
              <a:uFillTx/>
              <a:latin typeface="Arial"/>
            </a:endParaRPr>
          </a:p>
        </p:txBody>
      </p:sp>
      <p:sp>
        <p:nvSpPr>
          <p:cNvPr id="133" name="Shape 76"/>
          <p:cNvSpPr/>
          <p:nvPr/>
        </p:nvSpPr>
        <p:spPr>
          <a:xfrm>
            <a:off x="5427000" y="3538800"/>
            <a:ext cx="1398600" cy="347040"/>
          </a:xfrm>
          <a:prstGeom prst="roundRect">
            <a:avLst>
              <a:gd name="adj" fmla="val 15789"/>
            </a:avLst>
          </a:prstGeom>
          <a:solidFill>
            <a:srgbClr val="4DD0E1">
              <a:alpha val="90000"/>
            </a:srgbClr>
          </a:solidFill>
          <a:ln w="12700">
            <a:solidFill>
              <a:srgbClr val="4DD0E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34" name="Text 77"/>
          <p:cNvSpPr/>
          <p:nvPr/>
        </p:nvSpPr>
        <p:spPr>
          <a:xfrm>
            <a:off x="5427000" y="353880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080D24"/>
                </a:solidFill>
                <a:effectLst/>
                <a:uFillTx/>
                <a:latin typeface="Calibri"/>
                <a:ea typeface="Calibri"/>
              </a:rPr>
              <a:t>LightGBM</a:t>
            </a:r>
            <a:endParaRPr lang="en-ZA" sz="750" b="0" u="none" strike="noStrike">
              <a:solidFill>
                <a:srgbClr val="FFFFFF"/>
              </a:solidFill>
              <a:effectLst/>
              <a:uFillTx/>
              <a:latin typeface="Arial"/>
            </a:endParaRPr>
          </a:p>
        </p:txBody>
      </p:sp>
      <p:sp>
        <p:nvSpPr>
          <p:cNvPr id="135" name="Shape 78"/>
          <p:cNvSpPr/>
          <p:nvPr/>
        </p:nvSpPr>
        <p:spPr>
          <a:xfrm>
            <a:off x="6986160" y="1005840"/>
            <a:ext cx="1581480" cy="475200"/>
          </a:xfrm>
          <a:prstGeom prst="roundRect">
            <a:avLst>
              <a:gd name="adj" fmla="val 13462"/>
            </a:avLst>
          </a:prstGeom>
          <a:solidFill>
            <a:srgbClr val="E94560">
              <a:alpha val="7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36" name="Text 79"/>
          <p:cNvSpPr/>
          <p:nvPr/>
        </p:nvSpPr>
        <p:spPr>
          <a:xfrm>
            <a:off x="6986160" y="1005840"/>
            <a:ext cx="15814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0F4FF"/>
                </a:solidFill>
                <a:effectLst/>
                <a:uFillTx/>
                <a:latin typeface="Calibri"/>
                <a:ea typeface="Calibri"/>
              </a:rPr>
              <a:t>Group E</a:t>
            </a:r>
            <a:endParaRPr lang="en-ZA" sz="1100" b="0" u="none" strike="noStrike">
              <a:solidFill>
                <a:srgbClr val="FFFFFF"/>
              </a:solidFill>
              <a:effectLst/>
              <a:uFillTx/>
              <a:latin typeface="Arial"/>
            </a:endParaRPr>
          </a:p>
        </p:txBody>
      </p:sp>
      <p:sp>
        <p:nvSpPr>
          <p:cNvPr id="137" name="Text 80"/>
          <p:cNvSpPr/>
          <p:nvPr/>
        </p:nvSpPr>
        <p:spPr>
          <a:xfrm>
            <a:off x="6986160" y="1261800"/>
            <a:ext cx="158148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7B8DB8"/>
                </a:solidFill>
                <a:effectLst/>
                <a:uFillTx/>
                <a:latin typeface="Calibri"/>
                <a:ea typeface="Calibri"/>
              </a:rPr>
              <a:t>GT Upper Bound</a:t>
            </a:r>
            <a:endParaRPr lang="en-ZA" sz="800" b="0" u="none" strike="noStrike">
              <a:solidFill>
                <a:srgbClr val="FFFFFF"/>
              </a:solidFill>
              <a:effectLst/>
              <a:uFillTx/>
              <a:latin typeface="Arial"/>
            </a:endParaRPr>
          </a:p>
        </p:txBody>
      </p:sp>
      <p:sp>
        <p:nvSpPr>
          <p:cNvPr id="138" name="Shape 81"/>
          <p:cNvSpPr/>
          <p:nvPr/>
        </p:nvSpPr>
        <p:spPr>
          <a:xfrm>
            <a:off x="7077600" y="1508760"/>
            <a:ext cx="1398600" cy="200880"/>
          </a:xfrm>
          <a:prstGeom prst="roundRect">
            <a:avLst>
              <a:gd name="adj" fmla="val 18182"/>
            </a:avLst>
          </a:prstGeom>
          <a:solidFill>
            <a:srgbClr val="E94560">
              <a:alpha val="25000"/>
            </a:srgbClr>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39" name="Text 82"/>
          <p:cNvSpPr/>
          <p:nvPr/>
        </p:nvSpPr>
        <p:spPr>
          <a:xfrm>
            <a:off x="7077600" y="1508760"/>
            <a:ext cx="13986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E94560"/>
                </a:solidFill>
                <a:effectLst/>
                <a:uFillTx/>
                <a:latin typeface="Calibri"/>
                <a:ea typeface="Calibri"/>
              </a:rPr>
              <a:t>CEILING</a:t>
            </a:r>
            <a:endParaRPr lang="en-ZA" sz="700" b="0" u="none" strike="noStrike">
              <a:solidFill>
                <a:srgbClr val="FFFFFF"/>
              </a:solidFill>
              <a:effectLst/>
              <a:uFillTx/>
              <a:latin typeface="Arial"/>
            </a:endParaRPr>
          </a:p>
        </p:txBody>
      </p:sp>
      <p:sp>
        <p:nvSpPr>
          <p:cNvPr id="140" name="Shape 83"/>
          <p:cNvSpPr/>
          <p:nvPr/>
        </p:nvSpPr>
        <p:spPr>
          <a:xfrm>
            <a:off x="7767720" y="2130480"/>
            <a:ext cx="360" cy="109800"/>
          </a:xfrm>
          <a:prstGeom prst="line">
            <a:avLst/>
          </a:prstGeom>
          <a:ln w="12700">
            <a:solidFill>
              <a:srgbClr val="E94560"/>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41" name="Shape 84"/>
          <p:cNvSpPr/>
          <p:nvPr/>
        </p:nvSpPr>
        <p:spPr>
          <a:xfrm>
            <a:off x="7077600" y="1783080"/>
            <a:ext cx="1398600" cy="347040"/>
          </a:xfrm>
          <a:prstGeom prst="roundRect">
            <a:avLst>
              <a:gd name="adj" fmla="val 15789"/>
            </a:avLst>
          </a:prstGeom>
          <a:solidFill>
            <a:srgbClr val="1A2D5A"/>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42" name="Text 85"/>
          <p:cNvSpPr/>
          <p:nvPr/>
        </p:nvSpPr>
        <p:spPr>
          <a:xfrm>
            <a:off x="7077600" y="178308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GT BBox</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Annotations</a:t>
            </a:r>
            <a:endParaRPr lang="en-ZA" sz="750" b="0" u="none" strike="noStrike">
              <a:solidFill>
                <a:srgbClr val="FFFFFF"/>
              </a:solidFill>
              <a:effectLst/>
              <a:uFillTx/>
              <a:latin typeface="Arial"/>
            </a:endParaRPr>
          </a:p>
        </p:txBody>
      </p:sp>
      <p:sp>
        <p:nvSpPr>
          <p:cNvPr id="143" name="Shape 86"/>
          <p:cNvSpPr/>
          <p:nvPr/>
        </p:nvSpPr>
        <p:spPr>
          <a:xfrm>
            <a:off x="7767720" y="2569320"/>
            <a:ext cx="360" cy="109800"/>
          </a:xfrm>
          <a:prstGeom prst="line">
            <a:avLst/>
          </a:prstGeom>
          <a:ln w="12700">
            <a:solidFill>
              <a:srgbClr val="E94560"/>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44" name="Shape 87"/>
          <p:cNvSpPr/>
          <p:nvPr/>
        </p:nvSpPr>
        <p:spPr>
          <a:xfrm>
            <a:off x="7077600" y="2221920"/>
            <a:ext cx="1398600" cy="347040"/>
          </a:xfrm>
          <a:prstGeom prst="roundRect">
            <a:avLst>
              <a:gd name="adj" fmla="val 15789"/>
            </a:avLst>
          </a:prstGeom>
          <a:solidFill>
            <a:srgbClr val="1A2D5A"/>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45" name="Text 88"/>
          <p:cNvSpPr/>
          <p:nvPr/>
        </p:nvSpPr>
        <p:spPr>
          <a:xfrm>
            <a:off x="7077600" y="222192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IoU+</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Hungarian</a:t>
            </a:r>
            <a:endParaRPr lang="en-ZA" sz="750" b="0" u="none" strike="noStrike">
              <a:solidFill>
                <a:srgbClr val="FFFFFF"/>
              </a:solidFill>
              <a:effectLst/>
              <a:uFillTx/>
              <a:latin typeface="Arial"/>
            </a:endParaRPr>
          </a:p>
        </p:txBody>
      </p:sp>
      <p:sp>
        <p:nvSpPr>
          <p:cNvPr id="146" name="Shape 89"/>
          <p:cNvSpPr/>
          <p:nvPr/>
        </p:nvSpPr>
        <p:spPr>
          <a:xfrm>
            <a:off x="7767720" y="3008160"/>
            <a:ext cx="360" cy="109800"/>
          </a:xfrm>
          <a:prstGeom prst="line">
            <a:avLst/>
          </a:prstGeom>
          <a:ln w="12700">
            <a:solidFill>
              <a:srgbClr val="E94560"/>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47" name="Shape 90"/>
          <p:cNvSpPr/>
          <p:nvPr/>
        </p:nvSpPr>
        <p:spPr>
          <a:xfrm>
            <a:off x="7077600" y="2660760"/>
            <a:ext cx="1398600" cy="347040"/>
          </a:xfrm>
          <a:prstGeom prst="roundRect">
            <a:avLst>
              <a:gd name="adj" fmla="val 15789"/>
            </a:avLst>
          </a:prstGeom>
          <a:solidFill>
            <a:srgbClr val="1A2D5A"/>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48" name="Text 91"/>
          <p:cNvSpPr/>
          <p:nvPr/>
        </p:nvSpPr>
        <p:spPr>
          <a:xfrm>
            <a:off x="7077600" y="26607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Full Features</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(133)</a:t>
            </a:r>
            <a:endParaRPr lang="en-ZA" sz="750" b="0" u="none" strike="noStrike">
              <a:solidFill>
                <a:srgbClr val="FFFFFF"/>
              </a:solidFill>
              <a:effectLst/>
              <a:uFillTx/>
              <a:latin typeface="Arial"/>
            </a:endParaRPr>
          </a:p>
        </p:txBody>
      </p:sp>
      <p:sp>
        <p:nvSpPr>
          <p:cNvPr id="149" name="Shape 92"/>
          <p:cNvSpPr/>
          <p:nvPr/>
        </p:nvSpPr>
        <p:spPr>
          <a:xfrm>
            <a:off x="7767720" y="3447000"/>
            <a:ext cx="360" cy="109800"/>
          </a:xfrm>
          <a:prstGeom prst="line">
            <a:avLst/>
          </a:prstGeom>
          <a:ln w="12700">
            <a:solidFill>
              <a:srgbClr val="E94560"/>
            </a:solidFill>
            <a:prstDash val="sysDot"/>
            <a:round/>
          </a:ln>
        </p:spPr>
        <p:style>
          <a:lnRef idx="0"/>
          <a:fillRef idx="0"/>
          <a:effectRef idx="0"/>
          <a:fontRef idx="minor"/>
        </p:style>
        <p:txBody>
          <a:bodyPr lIns="90000" tIns="45000" rIns="90000" bIns="45000" anchor="t" anchorCtr="1">
            <a:noAutofit/>
          </a:bodyPr>
          <a:p>
            <a:endParaRPr lang="en-ZA" sz="1800" b="0" u="none" strike="noStrike">
              <a:solidFill>
                <a:srgbClr val="FFFFFF"/>
              </a:solidFill>
              <a:effectLst/>
              <a:uFillTx/>
              <a:latin typeface="Arial"/>
            </a:endParaRPr>
          </a:p>
        </p:txBody>
      </p:sp>
      <p:sp>
        <p:nvSpPr>
          <p:cNvPr id="150" name="Shape 93"/>
          <p:cNvSpPr/>
          <p:nvPr/>
        </p:nvSpPr>
        <p:spPr>
          <a:xfrm>
            <a:off x="7077600" y="3099960"/>
            <a:ext cx="1398600" cy="347040"/>
          </a:xfrm>
          <a:prstGeom prst="roundRect">
            <a:avLst>
              <a:gd name="adj" fmla="val 15789"/>
            </a:avLst>
          </a:prstGeom>
          <a:solidFill>
            <a:srgbClr val="1A2D5A"/>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51" name="Text 94"/>
          <p:cNvSpPr/>
          <p:nvPr/>
        </p:nvSpPr>
        <p:spPr>
          <a:xfrm>
            <a:off x="7077600" y="309996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F0F4FF"/>
                </a:solidFill>
                <a:effectLst/>
                <a:uFillTx/>
                <a:latin typeface="Calibri"/>
                <a:ea typeface="Calibri"/>
              </a:rPr>
              <a:t>RF /</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F0F4FF"/>
                </a:solidFill>
                <a:effectLst/>
                <a:uFillTx/>
                <a:latin typeface="Calibri"/>
                <a:ea typeface="Calibri"/>
              </a:rPr>
              <a:t>LightGBM</a:t>
            </a:r>
            <a:endParaRPr lang="en-ZA" sz="750" b="0" u="none" strike="noStrike">
              <a:solidFill>
                <a:srgbClr val="FFFFFF"/>
              </a:solidFill>
              <a:effectLst/>
              <a:uFillTx/>
              <a:latin typeface="Arial"/>
            </a:endParaRPr>
          </a:p>
        </p:txBody>
      </p:sp>
      <p:sp>
        <p:nvSpPr>
          <p:cNvPr id="152" name="Shape 95"/>
          <p:cNvSpPr/>
          <p:nvPr/>
        </p:nvSpPr>
        <p:spPr>
          <a:xfrm>
            <a:off x="7077600" y="3538800"/>
            <a:ext cx="1398600" cy="347040"/>
          </a:xfrm>
          <a:prstGeom prst="roundRect">
            <a:avLst>
              <a:gd name="adj" fmla="val 15789"/>
            </a:avLst>
          </a:prstGeom>
          <a:solidFill>
            <a:srgbClr val="E94560">
              <a:alpha val="90000"/>
            </a:srgbClr>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53" name="Text 96"/>
          <p:cNvSpPr/>
          <p:nvPr/>
        </p:nvSpPr>
        <p:spPr>
          <a:xfrm>
            <a:off x="7077600" y="3538800"/>
            <a:ext cx="1398600" cy="34704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750" b="0" u="none" strike="noStrike">
                <a:solidFill>
                  <a:srgbClr val="080D24"/>
                </a:solidFill>
                <a:effectLst/>
                <a:uFillTx/>
                <a:latin typeface="Calibri"/>
                <a:ea typeface="Calibri"/>
              </a:rPr>
              <a:t>Upper</a:t>
            </a:r>
            <a:endParaRPr lang="en-ZA" sz="750" b="0" u="none" strike="noStrike">
              <a:solidFill>
                <a:srgbClr val="FFFFFF"/>
              </a:solidFill>
              <a:effectLst/>
              <a:uFillTx/>
              <a:latin typeface="Arial"/>
            </a:endParaRPr>
          </a:p>
          <a:p>
            <a:pPr algn="ctr" defTabSz="914400">
              <a:lnSpc>
                <a:spcPct val="100000"/>
              </a:lnSpc>
              <a:tabLst>
                <a:tab pos="0" algn="l"/>
              </a:tabLst>
            </a:pPr>
            <a:r>
              <a:rPr lang="en-US" sz="750" b="0" u="none" strike="noStrike">
                <a:solidFill>
                  <a:srgbClr val="080D24"/>
                </a:solidFill>
                <a:effectLst/>
                <a:uFillTx/>
                <a:latin typeface="Calibri"/>
                <a:ea typeface="Calibri"/>
              </a:rPr>
              <a:t>Bound</a:t>
            </a:r>
            <a:endParaRPr lang="en-ZA"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535"/>
        </a:solidFill>
      </p:bgPr>
    </p:bg>
    <p:spTree>
      <p:nvGrpSpPr>
        <p:cNvPr id="1" name=""/>
        <p:cNvGrpSpPr/>
        <p:nvPr/>
      </p:nvGrpSpPr>
      <p:grpSpPr>
        <a:xfrm>
          <a:off x="0" y="0"/>
          <a:ext cx="0" cy="0"/>
          <a:chOff x="0" y="0"/>
          <a:chExt cx="0" cy="0"/>
        </a:xfrm>
      </p:grpSpPr>
      <p:sp>
        <p:nvSpPr>
          <p:cNvPr id="154" name="Text 0"/>
          <p:cNvSpPr/>
          <p:nvPr/>
        </p:nvSpPr>
        <p:spPr>
          <a:xfrm>
            <a:off x="457200" y="201240"/>
            <a:ext cx="8229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0F4FF"/>
                </a:solidFill>
                <a:effectLst/>
                <a:uFillTx/>
                <a:latin typeface="Cambria"/>
                <a:ea typeface="Cambria"/>
              </a:rPr>
              <a:t>Feature Engineering: 6 Modules</a:t>
            </a:r>
            <a:endParaRPr lang="en-ZA" sz="2200" b="0" u="none" strike="noStrike">
              <a:solidFill>
                <a:srgbClr val="FFFFFF"/>
              </a:solidFill>
              <a:effectLst/>
              <a:uFillTx/>
              <a:latin typeface="Arial"/>
            </a:endParaRPr>
          </a:p>
        </p:txBody>
      </p:sp>
      <p:sp>
        <p:nvSpPr>
          <p:cNvPr id="155" name="Shape 1"/>
          <p:cNvSpPr/>
          <p:nvPr/>
        </p:nvSpPr>
        <p:spPr>
          <a:xfrm>
            <a:off x="6858000" y="164520"/>
            <a:ext cx="1919880" cy="658080"/>
          </a:xfrm>
          <a:prstGeom prst="roundRect">
            <a:avLst>
              <a:gd name="adj" fmla="val 13889"/>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56" name="Text 2"/>
          <p:cNvSpPr/>
          <p:nvPr/>
        </p:nvSpPr>
        <p:spPr>
          <a:xfrm>
            <a:off x="6858000" y="16452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u="none" strike="noStrike">
                <a:solidFill>
                  <a:srgbClr val="00BCD4"/>
                </a:solidFill>
                <a:effectLst/>
                <a:uFillTx/>
                <a:latin typeface="Cambria"/>
                <a:ea typeface="Cambria"/>
              </a:rPr>
              <a:t>133</a:t>
            </a:r>
            <a:endParaRPr lang="en-ZA" sz="2600" b="0" u="none" strike="noStrike">
              <a:solidFill>
                <a:srgbClr val="FFFFFF"/>
              </a:solidFill>
              <a:effectLst/>
              <a:uFillTx/>
              <a:latin typeface="Arial"/>
            </a:endParaRPr>
          </a:p>
        </p:txBody>
      </p:sp>
      <p:sp>
        <p:nvSpPr>
          <p:cNvPr id="157" name="Text 3"/>
          <p:cNvSpPr/>
          <p:nvPr/>
        </p:nvSpPr>
        <p:spPr>
          <a:xfrm>
            <a:off x="6858000" y="548640"/>
            <a:ext cx="191988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0" u="none" strike="noStrike">
                <a:solidFill>
                  <a:srgbClr val="7B8DB8"/>
                </a:solidFill>
                <a:effectLst/>
                <a:uFillTx/>
                <a:latin typeface="Calibri"/>
                <a:ea typeface="Calibri"/>
              </a:rPr>
              <a:t>features / video (Groups B/D/E)</a:t>
            </a:r>
            <a:endParaRPr lang="en-ZA" sz="750" b="0" u="none" strike="noStrike">
              <a:solidFill>
                <a:srgbClr val="FFFFFF"/>
              </a:solidFill>
              <a:effectLst/>
              <a:uFillTx/>
              <a:latin typeface="Arial"/>
            </a:endParaRPr>
          </a:p>
        </p:txBody>
      </p:sp>
      <p:sp>
        <p:nvSpPr>
          <p:cNvPr id="158" name="Text 4"/>
          <p:cNvSpPr/>
          <p:nvPr/>
        </p:nvSpPr>
        <p:spPr>
          <a:xfrm>
            <a:off x="457200" y="658440"/>
            <a:ext cx="621756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7B8DB8"/>
                </a:solidFill>
                <a:effectLst/>
                <a:uFillTx/>
                <a:latin typeface="Calibri"/>
                <a:ea typeface="Calibri"/>
              </a:rPr>
              <a:t>Aggregation per video: mean · max · std of each per-track feature  +  n_valid_tracks</a:t>
            </a:r>
            <a:endParaRPr lang="en-ZA" sz="1000" b="0" u="none" strike="noStrike">
              <a:solidFill>
                <a:srgbClr val="FFFFFF"/>
              </a:solidFill>
              <a:effectLst/>
              <a:uFillTx/>
              <a:latin typeface="Arial"/>
            </a:endParaRPr>
          </a:p>
        </p:txBody>
      </p:sp>
      <p:sp>
        <p:nvSpPr>
          <p:cNvPr id="159" name="Shape 5"/>
          <p:cNvSpPr/>
          <p:nvPr/>
        </p:nvSpPr>
        <p:spPr>
          <a:xfrm>
            <a:off x="402480" y="987480"/>
            <a:ext cx="2742840" cy="1682280"/>
          </a:xfrm>
          <a:prstGeom prst="roundRect">
            <a:avLst>
              <a:gd name="adj" fmla="val 4891"/>
            </a:avLst>
          </a:prstGeom>
          <a:solidFill>
            <a:srgbClr val="141F4A"/>
          </a:solidFill>
          <a:ln w="12700">
            <a:solidFill>
              <a:srgbClr val="00BCD4"/>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60" name="Shape 6"/>
          <p:cNvSpPr/>
          <p:nvPr/>
        </p:nvSpPr>
        <p:spPr>
          <a:xfrm>
            <a:off x="402480" y="987480"/>
            <a:ext cx="2742840" cy="402120"/>
          </a:xfrm>
          <a:prstGeom prst="roundRect">
            <a:avLst>
              <a:gd name="adj" fmla="val 20455"/>
            </a:avLst>
          </a:prstGeom>
          <a:solidFill>
            <a:srgbClr val="00BCD4">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61" name="Text 7"/>
          <p:cNvSpPr/>
          <p:nvPr/>
        </p:nvSpPr>
        <p:spPr>
          <a:xfrm>
            <a:off x="530280" y="104256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Trajectory</a:t>
            </a:r>
            <a:endParaRPr lang="en-ZA" sz="1100" b="0" u="none" strike="noStrike">
              <a:solidFill>
                <a:srgbClr val="FFFFFF"/>
              </a:solidFill>
              <a:effectLst/>
              <a:uFillTx/>
              <a:latin typeface="Arial"/>
            </a:endParaRPr>
          </a:p>
        </p:txBody>
      </p:sp>
      <p:sp>
        <p:nvSpPr>
          <p:cNvPr id="162" name="Shape 8"/>
          <p:cNvSpPr/>
          <p:nvPr/>
        </p:nvSpPr>
        <p:spPr>
          <a:xfrm>
            <a:off x="2578680" y="1060560"/>
            <a:ext cx="420120" cy="255600"/>
          </a:xfrm>
          <a:prstGeom prst="roundRect">
            <a:avLst>
              <a:gd name="adj" fmla="val 21429"/>
            </a:avLst>
          </a:prstGeom>
          <a:solidFill>
            <a:srgbClr val="00BCD4"/>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63" name="Text 9"/>
          <p:cNvSpPr/>
          <p:nvPr/>
        </p:nvSpPr>
        <p:spPr>
          <a:xfrm>
            <a:off x="2578680" y="106056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14</a:t>
            </a:r>
            <a:endParaRPr lang="en-ZA" sz="1000" b="0" u="none" strike="noStrike">
              <a:solidFill>
                <a:srgbClr val="FFFFFF"/>
              </a:solidFill>
              <a:effectLst/>
              <a:uFillTx/>
              <a:latin typeface="Arial"/>
            </a:endParaRPr>
          </a:p>
        </p:txBody>
      </p:sp>
      <p:sp>
        <p:nvSpPr>
          <p:cNvPr id="164" name="Text 10"/>
          <p:cNvSpPr/>
          <p:nvPr/>
        </p:nvSpPr>
        <p:spPr>
          <a:xfrm>
            <a:off x="530280" y="140832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00BCD4"/>
                </a:solidFill>
                <a:effectLst/>
                <a:uFillTx/>
                <a:latin typeface="Calibri"/>
                <a:ea typeface="Calibri"/>
              </a:rPr>
              <a:t>All Groups</a:t>
            </a:r>
            <a:endParaRPr lang="en-ZA" sz="800" b="0" u="none" strike="noStrike">
              <a:solidFill>
                <a:srgbClr val="FFFFFF"/>
              </a:solidFill>
              <a:effectLst/>
              <a:uFillTx/>
              <a:latin typeface="Arial"/>
            </a:endParaRPr>
          </a:p>
        </p:txBody>
      </p:sp>
      <p:sp>
        <p:nvSpPr>
          <p:cNvPr id="165" name="Text 11"/>
          <p:cNvSpPr/>
          <p:nvPr/>
        </p:nvSpPr>
        <p:spPr>
          <a:xfrm>
            <a:off x="530280" y="15912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trajectory_length · total_distance</a:t>
            </a:r>
            <a:endParaRPr lang="en-ZA" sz="850" b="0" u="none" strike="noStrike">
              <a:solidFill>
                <a:srgbClr val="FFFFFF"/>
              </a:solidFill>
              <a:effectLst/>
              <a:uFillTx/>
              <a:latin typeface="Arial"/>
            </a:endParaRPr>
          </a:p>
        </p:txBody>
      </p:sp>
      <p:sp>
        <p:nvSpPr>
          <p:cNvPr id="166" name="Text 12"/>
          <p:cNvSpPr/>
          <p:nvPr/>
        </p:nvSpPr>
        <p:spPr>
          <a:xfrm>
            <a:off x="530280" y="18288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net_displacement · straightness</a:t>
            </a:r>
            <a:endParaRPr lang="en-ZA" sz="850" b="0" u="none" strike="noStrike">
              <a:solidFill>
                <a:srgbClr val="FFFFFF"/>
              </a:solidFill>
              <a:effectLst/>
              <a:uFillTx/>
              <a:latin typeface="Arial"/>
            </a:endParaRPr>
          </a:p>
        </p:txBody>
      </p:sp>
      <p:sp>
        <p:nvSpPr>
          <p:cNvPr id="167" name="Text 13"/>
          <p:cNvSpPr/>
          <p:nvPr/>
        </p:nvSpPr>
        <p:spPr>
          <a:xfrm>
            <a:off x="530280" y="20664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mean/max/std/skew/kurt speed</a:t>
            </a:r>
            <a:endParaRPr lang="en-ZA" sz="850" b="0" u="none" strike="noStrike">
              <a:solidFill>
                <a:srgbClr val="FFFFFF"/>
              </a:solidFill>
              <a:effectLst/>
              <a:uFillTx/>
              <a:latin typeface="Arial"/>
            </a:endParaRPr>
          </a:p>
        </p:txBody>
      </p:sp>
      <p:sp>
        <p:nvSpPr>
          <p:cNvPr id="168" name="Text 14"/>
          <p:cNvSpPr/>
          <p:nvPr/>
        </p:nvSpPr>
        <p:spPr>
          <a:xfrm>
            <a:off x="530280" y="230436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direction · bbox_area · flow mag/angle</a:t>
            </a:r>
            <a:endParaRPr lang="en-ZA" sz="850" b="0" u="none" strike="noStrike">
              <a:solidFill>
                <a:srgbClr val="FFFFFF"/>
              </a:solidFill>
              <a:effectLst/>
              <a:uFillTx/>
              <a:latin typeface="Arial"/>
            </a:endParaRPr>
          </a:p>
        </p:txBody>
      </p:sp>
      <p:sp>
        <p:nvSpPr>
          <p:cNvPr id="169" name="Shape 15"/>
          <p:cNvSpPr/>
          <p:nvPr/>
        </p:nvSpPr>
        <p:spPr>
          <a:xfrm>
            <a:off x="3273480" y="987480"/>
            <a:ext cx="2742840" cy="1682280"/>
          </a:xfrm>
          <a:prstGeom prst="roundRect">
            <a:avLst>
              <a:gd name="adj" fmla="val 4891"/>
            </a:avLst>
          </a:prstGeom>
          <a:solidFill>
            <a:srgbClr val="141F4A"/>
          </a:solidFill>
          <a:ln w="12700">
            <a:solidFill>
              <a:srgbClr val="26C281"/>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70" name="Shape 16"/>
          <p:cNvSpPr/>
          <p:nvPr/>
        </p:nvSpPr>
        <p:spPr>
          <a:xfrm>
            <a:off x="3273480" y="987480"/>
            <a:ext cx="2742840" cy="402120"/>
          </a:xfrm>
          <a:prstGeom prst="roundRect">
            <a:avLst>
              <a:gd name="adj" fmla="val 20455"/>
            </a:avLst>
          </a:prstGeom>
          <a:solidFill>
            <a:srgbClr val="26C281">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71" name="Text 17"/>
          <p:cNvSpPr/>
          <p:nvPr/>
        </p:nvSpPr>
        <p:spPr>
          <a:xfrm>
            <a:off x="3401640" y="104256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Circular Motion</a:t>
            </a:r>
            <a:endParaRPr lang="en-ZA" sz="1100" b="0" u="none" strike="noStrike">
              <a:solidFill>
                <a:srgbClr val="FFFFFF"/>
              </a:solidFill>
              <a:effectLst/>
              <a:uFillTx/>
              <a:latin typeface="Arial"/>
            </a:endParaRPr>
          </a:p>
        </p:txBody>
      </p:sp>
      <p:sp>
        <p:nvSpPr>
          <p:cNvPr id="172" name="Shape 18"/>
          <p:cNvSpPr/>
          <p:nvPr/>
        </p:nvSpPr>
        <p:spPr>
          <a:xfrm>
            <a:off x="5449680" y="1060560"/>
            <a:ext cx="420120" cy="255600"/>
          </a:xfrm>
          <a:prstGeom prst="roundRect">
            <a:avLst>
              <a:gd name="adj" fmla="val 21429"/>
            </a:avLst>
          </a:prstGeom>
          <a:solidFill>
            <a:srgbClr val="26C281"/>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73" name="Text 19"/>
          <p:cNvSpPr/>
          <p:nvPr/>
        </p:nvSpPr>
        <p:spPr>
          <a:xfrm>
            <a:off x="5449680" y="106056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4</a:t>
            </a:r>
            <a:endParaRPr lang="en-ZA" sz="1000" b="0" u="none" strike="noStrike">
              <a:solidFill>
                <a:srgbClr val="FFFFFF"/>
              </a:solidFill>
              <a:effectLst/>
              <a:uFillTx/>
              <a:latin typeface="Arial"/>
            </a:endParaRPr>
          </a:p>
        </p:txBody>
      </p:sp>
      <p:sp>
        <p:nvSpPr>
          <p:cNvPr id="174" name="Text 20"/>
          <p:cNvSpPr/>
          <p:nvPr/>
        </p:nvSpPr>
        <p:spPr>
          <a:xfrm>
            <a:off x="3401640" y="140832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26C281"/>
                </a:solidFill>
                <a:effectLst/>
                <a:uFillTx/>
                <a:latin typeface="Calibri"/>
                <a:ea typeface="Calibri"/>
              </a:rPr>
              <a:t>Groups B/D/E</a:t>
            </a:r>
            <a:endParaRPr lang="en-ZA" sz="800" b="0" u="none" strike="noStrike">
              <a:solidFill>
                <a:srgbClr val="FFFFFF"/>
              </a:solidFill>
              <a:effectLst/>
              <a:uFillTx/>
              <a:latin typeface="Arial"/>
            </a:endParaRPr>
          </a:p>
        </p:txBody>
      </p:sp>
      <p:sp>
        <p:nvSpPr>
          <p:cNvPr id="175" name="Text 21"/>
          <p:cNvSpPr/>
          <p:nvPr/>
        </p:nvSpPr>
        <p:spPr>
          <a:xfrm>
            <a:off x="3401640" y="15912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circular_mean_rad</a:t>
            </a:r>
            <a:endParaRPr lang="en-ZA" sz="850" b="0" u="none" strike="noStrike">
              <a:solidFill>
                <a:srgbClr val="FFFFFF"/>
              </a:solidFill>
              <a:effectLst/>
              <a:uFillTx/>
              <a:latin typeface="Arial"/>
            </a:endParaRPr>
          </a:p>
        </p:txBody>
      </p:sp>
      <p:sp>
        <p:nvSpPr>
          <p:cNvPr id="176" name="Text 22"/>
          <p:cNvSpPr/>
          <p:nvPr/>
        </p:nvSpPr>
        <p:spPr>
          <a:xfrm>
            <a:off x="3401640" y="18288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circular_variance (1 − R)</a:t>
            </a:r>
            <a:endParaRPr lang="en-ZA" sz="850" b="0" u="none" strike="noStrike">
              <a:solidFill>
                <a:srgbClr val="FFFFFF"/>
              </a:solidFill>
              <a:effectLst/>
              <a:uFillTx/>
              <a:latin typeface="Arial"/>
            </a:endParaRPr>
          </a:p>
        </p:txBody>
      </p:sp>
      <p:sp>
        <p:nvSpPr>
          <p:cNvPr id="177" name="Text 23"/>
          <p:cNvSpPr/>
          <p:nvPr/>
        </p:nvSpPr>
        <p:spPr>
          <a:xfrm>
            <a:off x="3401640" y="20664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direction_concentration (R)</a:t>
            </a:r>
            <a:endParaRPr lang="en-ZA" sz="850" b="0" u="none" strike="noStrike">
              <a:solidFill>
                <a:srgbClr val="FFFFFF"/>
              </a:solidFill>
              <a:effectLst/>
              <a:uFillTx/>
              <a:latin typeface="Arial"/>
            </a:endParaRPr>
          </a:p>
        </p:txBody>
      </p:sp>
      <p:sp>
        <p:nvSpPr>
          <p:cNvPr id="178" name="Text 24"/>
          <p:cNvSpPr/>
          <p:nvPr/>
        </p:nvSpPr>
        <p:spPr>
          <a:xfrm>
            <a:off x="3401640" y="230436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angular_dispersion</a:t>
            </a:r>
            <a:endParaRPr lang="en-ZA" sz="850" b="0" u="none" strike="noStrike">
              <a:solidFill>
                <a:srgbClr val="FFFFFF"/>
              </a:solidFill>
              <a:effectLst/>
              <a:uFillTx/>
              <a:latin typeface="Arial"/>
            </a:endParaRPr>
          </a:p>
        </p:txBody>
      </p:sp>
      <p:sp>
        <p:nvSpPr>
          <p:cNvPr id="179" name="Shape 25"/>
          <p:cNvSpPr/>
          <p:nvPr/>
        </p:nvSpPr>
        <p:spPr>
          <a:xfrm>
            <a:off x="6144840" y="987480"/>
            <a:ext cx="2742840" cy="1682280"/>
          </a:xfrm>
          <a:prstGeom prst="roundRect">
            <a:avLst>
              <a:gd name="adj" fmla="val 4891"/>
            </a:avLst>
          </a:prstGeom>
          <a:solidFill>
            <a:srgbClr val="141F4A"/>
          </a:solidFill>
          <a:ln w="12700">
            <a:solidFill>
              <a:srgbClr val="FFB74D"/>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80" name="Shape 26"/>
          <p:cNvSpPr/>
          <p:nvPr/>
        </p:nvSpPr>
        <p:spPr>
          <a:xfrm>
            <a:off x="6144840" y="987480"/>
            <a:ext cx="2742840" cy="402120"/>
          </a:xfrm>
          <a:prstGeom prst="roundRect">
            <a:avLst>
              <a:gd name="adj" fmla="val 20455"/>
            </a:avLst>
          </a:prstGeom>
          <a:solidFill>
            <a:srgbClr val="FFB74D">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81" name="Text 27"/>
          <p:cNvSpPr/>
          <p:nvPr/>
        </p:nvSpPr>
        <p:spPr>
          <a:xfrm>
            <a:off x="6272640" y="104256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Kinematics</a:t>
            </a:r>
            <a:endParaRPr lang="en-ZA" sz="1100" b="0" u="none" strike="noStrike">
              <a:solidFill>
                <a:srgbClr val="FFFFFF"/>
              </a:solidFill>
              <a:effectLst/>
              <a:uFillTx/>
              <a:latin typeface="Arial"/>
            </a:endParaRPr>
          </a:p>
        </p:txBody>
      </p:sp>
      <p:sp>
        <p:nvSpPr>
          <p:cNvPr id="182" name="Shape 28"/>
          <p:cNvSpPr/>
          <p:nvPr/>
        </p:nvSpPr>
        <p:spPr>
          <a:xfrm>
            <a:off x="8321040" y="1060560"/>
            <a:ext cx="420120" cy="255600"/>
          </a:xfrm>
          <a:prstGeom prst="roundRect">
            <a:avLst>
              <a:gd name="adj" fmla="val 21429"/>
            </a:avLst>
          </a:prstGeom>
          <a:solidFill>
            <a:srgbClr val="FFB74D"/>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83" name="Text 29"/>
          <p:cNvSpPr/>
          <p:nvPr/>
        </p:nvSpPr>
        <p:spPr>
          <a:xfrm>
            <a:off x="8321040" y="106056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8</a:t>
            </a:r>
            <a:endParaRPr lang="en-ZA" sz="1000" b="0" u="none" strike="noStrike">
              <a:solidFill>
                <a:srgbClr val="FFFFFF"/>
              </a:solidFill>
              <a:effectLst/>
              <a:uFillTx/>
              <a:latin typeface="Arial"/>
            </a:endParaRPr>
          </a:p>
        </p:txBody>
      </p:sp>
      <p:sp>
        <p:nvSpPr>
          <p:cNvPr id="184" name="Text 30"/>
          <p:cNvSpPr/>
          <p:nvPr/>
        </p:nvSpPr>
        <p:spPr>
          <a:xfrm>
            <a:off x="6272640" y="140832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FFB74D"/>
                </a:solidFill>
                <a:effectLst/>
                <a:uFillTx/>
                <a:latin typeface="Calibri"/>
                <a:ea typeface="Calibri"/>
              </a:rPr>
              <a:t>Groups B/D/E</a:t>
            </a:r>
            <a:endParaRPr lang="en-ZA" sz="800" b="0" u="none" strike="noStrike">
              <a:solidFill>
                <a:srgbClr val="FFFFFF"/>
              </a:solidFill>
              <a:effectLst/>
              <a:uFillTx/>
              <a:latin typeface="Arial"/>
            </a:endParaRPr>
          </a:p>
        </p:txBody>
      </p:sp>
      <p:sp>
        <p:nvSpPr>
          <p:cNvPr id="185" name="Text 31"/>
          <p:cNvSpPr/>
          <p:nvPr/>
        </p:nvSpPr>
        <p:spPr>
          <a:xfrm>
            <a:off x="6272640" y="15912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mean/std/max/skew acceleration</a:t>
            </a:r>
            <a:endParaRPr lang="en-ZA" sz="850" b="0" u="none" strike="noStrike">
              <a:solidFill>
                <a:srgbClr val="FFFFFF"/>
              </a:solidFill>
              <a:effectLst/>
              <a:uFillTx/>
              <a:latin typeface="Arial"/>
            </a:endParaRPr>
          </a:p>
        </p:txBody>
      </p:sp>
      <p:sp>
        <p:nvSpPr>
          <p:cNvPr id="186" name="Text 32"/>
          <p:cNvSpPr/>
          <p:nvPr/>
        </p:nvSpPr>
        <p:spPr>
          <a:xfrm>
            <a:off x="6272640" y="18288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mean/std/max/skew jerk</a:t>
            </a:r>
            <a:endParaRPr lang="en-ZA" sz="850" b="0" u="none" strike="noStrike">
              <a:solidFill>
                <a:srgbClr val="FFFFFF"/>
              </a:solidFill>
              <a:effectLst/>
              <a:uFillTx/>
              <a:latin typeface="Arial"/>
            </a:endParaRPr>
          </a:p>
        </p:txBody>
      </p:sp>
      <p:sp>
        <p:nvSpPr>
          <p:cNvPr id="187" name="Text 33"/>
          <p:cNvSpPr/>
          <p:nvPr/>
        </p:nvSpPr>
        <p:spPr>
          <a:xfrm>
            <a:off x="6272640" y="206640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(2nd &amp; 3rd derivatives of speed)</a:t>
            </a:r>
            <a:endParaRPr lang="en-ZA" sz="850" b="0" u="none" strike="noStrike">
              <a:solidFill>
                <a:srgbClr val="FFFFFF"/>
              </a:solidFill>
              <a:effectLst/>
              <a:uFillTx/>
              <a:latin typeface="Arial"/>
            </a:endParaRPr>
          </a:p>
        </p:txBody>
      </p:sp>
      <p:sp>
        <p:nvSpPr>
          <p:cNvPr id="188" name="Shape 34"/>
          <p:cNvSpPr/>
          <p:nvPr/>
        </p:nvSpPr>
        <p:spPr>
          <a:xfrm>
            <a:off x="402480" y="2779920"/>
            <a:ext cx="2742840" cy="1682280"/>
          </a:xfrm>
          <a:prstGeom prst="roundRect">
            <a:avLst>
              <a:gd name="adj" fmla="val 4891"/>
            </a:avLst>
          </a:prstGeom>
          <a:solidFill>
            <a:srgbClr val="141F4A"/>
          </a:solidFill>
          <a:ln w="12700">
            <a:solidFill>
              <a:srgbClr val="4DD0E1"/>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89" name="Shape 35"/>
          <p:cNvSpPr/>
          <p:nvPr/>
        </p:nvSpPr>
        <p:spPr>
          <a:xfrm>
            <a:off x="402480" y="2779920"/>
            <a:ext cx="2742840" cy="402120"/>
          </a:xfrm>
          <a:prstGeom prst="roundRect">
            <a:avLst>
              <a:gd name="adj" fmla="val 20455"/>
            </a:avLst>
          </a:prstGeom>
          <a:solidFill>
            <a:srgbClr val="4DD0E1">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90" name="Text 36"/>
          <p:cNvSpPr/>
          <p:nvPr/>
        </p:nvSpPr>
        <p:spPr>
          <a:xfrm>
            <a:off x="530280" y="283464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Shape</a:t>
            </a:r>
            <a:endParaRPr lang="en-ZA" sz="1100" b="0" u="none" strike="noStrike">
              <a:solidFill>
                <a:srgbClr val="FFFFFF"/>
              </a:solidFill>
              <a:effectLst/>
              <a:uFillTx/>
              <a:latin typeface="Arial"/>
            </a:endParaRPr>
          </a:p>
        </p:txBody>
      </p:sp>
      <p:sp>
        <p:nvSpPr>
          <p:cNvPr id="191" name="Shape 37"/>
          <p:cNvSpPr/>
          <p:nvPr/>
        </p:nvSpPr>
        <p:spPr>
          <a:xfrm>
            <a:off x="2578680" y="2853000"/>
            <a:ext cx="420120" cy="255600"/>
          </a:xfrm>
          <a:prstGeom prst="roundRect">
            <a:avLst>
              <a:gd name="adj" fmla="val 21429"/>
            </a:avLst>
          </a:prstGeom>
          <a:solidFill>
            <a:srgbClr val="4DD0E1"/>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192" name="Text 38"/>
          <p:cNvSpPr/>
          <p:nvPr/>
        </p:nvSpPr>
        <p:spPr>
          <a:xfrm>
            <a:off x="2578680" y="285300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5</a:t>
            </a:r>
            <a:endParaRPr lang="en-ZA" sz="1000" b="0" u="none" strike="noStrike">
              <a:solidFill>
                <a:srgbClr val="FFFFFF"/>
              </a:solidFill>
              <a:effectLst/>
              <a:uFillTx/>
              <a:latin typeface="Arial"/>
            </a:endParaRPr>
          </a:p>
        </p:txBody>
      </p:sp>
      <p:sp>
        <p:nvSpPr>
          <p:cNvPr id="193" name="Text 39"/>
          <p:cNvSpPr/>
          <p:nvPr/>
        </p:nvSpPr>
        <p:spPr>
          <a:xfrm>
            <a:off x="530280" y="320040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4DD0E1"/>
                </a:solidFill>
                <a:effectLst/>
                <a:uFillTx/>
                <a:latin typeface="Calibri"/>
                <a:ea typeface="Calibri"/>
              </a:rPr>
              <a:t>Groups B/D/E</a:t>
            </a:r>
            <a:endParaRPr lang="en-ZA" sz="800" b="0" u="none" strike="noStrike">
              <a:solidFill>
                <a:srgbClr val="FFFFFF"/>
              </a:solidFill>
              <a:effectLst/>
              <a:uFillTx/>
              <a:latin typeface="Arial"/>
            </a:endParaRPr>
          </a:p>
        </p:txBody>
      </p:sp>
      <p:sp>
        <p:nvSpPr>
          <p:cNvPr id="194" name="Text 40"/>
          <p:cNvSpPr/>
          <p:nvPr/>
        </p:nvSpPr>
        <p:spPr>
          <a:xfrm>
            <a:off x="530280" y="33832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mean_curvature, std_curvature</a:t>
            </a:r>
            <a:endParaRPr lang="en-ZA" sz="850" b="0" u="none" strike="noStrike">
              <a:solidFill>
                <a:srgbClr val="FFFFFF"/>
              </a:solidFill>
              <a:effectLst/>
              <a:uFillTx/>
              <a:latin typeface="Arial"/>
            </a:endParaRPr>
          </a:p>
        </p:txBody>
      </p:sp>
      <p:sp>
        <p:nvSpPr>
          <p:cNvPr id="195" name="Text 41"/>
          <p:cNvSpPr/>
          <p:nvPr/>
        </p:nvSpPr>
        <p:spPr>
          <a:xfrm>
            <a:off x="530280" y="36208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convex_hull_area (scipy.ConvexHull)</a:t>
            </a:r>
            <a:endParaRPr lang="en-ZA" sz="850" b="0" u="none" strike="noStrike">
              <a:solidFill>
                <a:srgbClr val="FFFFFF"/>
              </a:solidFill>
              <a:effectLst/>
              <a:uFillTx/>
              <a:latin typeface="Arial"/>
            </a:endParaRPr>
          </a:p>
        </p:txBody>
      </p:sp>
      <p:sp>
        <p:nvSpPr>
          <p:cNvPr id="196" name="Text 42"/>
          <p:cNvSpPr/>
          <p:nvPr/>
        </p:nvSpPr>
        <p:spPr>
          <a:xfrm>
            <a:off x="530280" y="38588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compactness (4π·A / P²)</a:t>
            </a:r>
            <a:endParaRPr lang="en-ZA" sz="850" b="0" u="none" strike="noStrike">
              <a:solidFill>
                <a:srgbClr val="FFFFFF"/>
              </a:solidFill>
              <a:effectLst/>
              <a:uFillTx/>
              <a:latin typeface="Arial"/>
            </a:endParaRPr>
          </a:p>
        </p:txBody>
      </p:sp>
      <p:sp>
        <p:nvSpPr>
          <p:cNvPr id="197" name="Text 43"/>
          <p:cNvSpPr/>
          <p:nvPr/>
        </p:nvSpPr>
        <p:spPr>
          <a:xfrm>
            <a:off x="530280" y="40964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path_efficiency (net / total dist)</a:t>
            </a:r>
            <a:endParaRPr lang="en-ZA" sz="850" b="0" u="none" strike="noStrike">
              <a:solidFill>
                <a:srgbClr val="FFFFFF"/>
              </a:solidFill>
              <a:effectLst/>
              <a:uFillTx/>
              <a:latin typeface="Arial"/>
            </a:endParaRPr>
          </a:p>
        </p:txBody>
      </p:sp>
      <p:sp>
        <p:nvSpPr>
          <p:cNvPr id="198" name="Shape 44"/>
          <p:cNvSpPr/>
          <p:nvPr/>
        </p:nvSpPr>
        <p:spPr>
          <a:xfrm>
            <a:off x="3273480" y="2779920"/>
            <a:ext cx="2742840" cy="1682280"/>
          </a:xfrm>
          <a:prstGeom prst="roundRect">
            <a:avLst>
              <a:gd name="adj" fmla="val 4891"/>
            </a:avLst>
          </a:prstGeom>
          <a:solidFill>
            <a:srgbClr val="141F4A"/>
          </a:solidFill>
          <a:ln w="12700">
            <a:solidFill>
              <a:srgbClr val="E94560"/>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199" name="Shape 45"/>
          <p:cNvSpPr/>
          <p:nvPr/>
        </p:nvSpPr>
        <p:spPr>
          <a:xfrm>
            <a:off x="3273480" y="2779920"/>
            <a:ext cx="2742840" cy="402120"/>
          </a:xfrm>
          <a:prstGeom prst="roundRect">
            <a:avLst>
              <a:gd name="adj" fmla="val 20455"/>
            </a:avLst>
          </a:prstGeom>
          <a:solidFill>
            <a:srgbClr val="E94560">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00" name="Text 46"/>
          <p:cNvSpPr/>
          <p:nvPr/>
        </p:nvSpPr>
        <p:spPr>
          <a:xfrm>
            <a:off x="3401640" y="283464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Wavelet / DWT</a:t>
            </a:r>
            <a:endParaRPr lang="en-ZA" sz="1100" b="0" u="none" strike="noStrike">
              <a:solidFill>
                <a:srgbClr val="FFFFFF"/>
              </a:solidFill>
              <a:effectLst/>
              <a:uFillTx/>
              <a:latin typeface="Arial"/>
            </a:endParaRPr>
          </a:p>
        </p:txBody>
      </p:sp>
      <p:sp>
        <p:nvSpPr>
          <p:cNvPr id="201" name="Shape 47"/>
          <p:cNvSpPr/>
          <p:nvPr/>
        </p:nvSpPr>
        <p:spPr>
          <a:xfrm>
            <a:off x="5449680" y="2853000"/>
            <a:ext cx="420120" cy="255600"/>
          </a:xfrm>
          <a:prstGeom prst="roundRect">
            <a:avLst>
              <a:gd name="adj" fmla="val 21429"/>
            </a:avLst>
          </a:prstGeom>
          <a:solidFill>
            <a:srgbClr val="E94560"/>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02" name="Text 48"/>
          <p:cNvSpPr/>
          <p:nvPr/>
        </p:nvSpPr>
        <p:spPr>
          <a:xfrm>
            <a:off x="5449680" y="285300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6</a:t>
            </a:r>
            <a:endParaRPr lang="en-ZA" sz="1000" b="0" u="none" strike="noStrike">
              <a:solidFill>
                <a:srgbClr val="FFFFFF"/>
              </a:solidFill>
              <a:effectLst/>
              <a:uFillTx/>
              <a:latin typeface="Arial"/>
            </a:endParaRPr>
          </a:p>
        </p:txBody>
      </p:sp>
      <p:sp>
        <p:nvSpPr>
          <p:cNvPr id="203" name="Text 49"/>
          <p:cNvSpPr/>
          <p:nvPr/>
        </p:nvSpPr>
        <p:spPr>
          <a:xfrm>
            <a:off x="3401640" y="320040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E94560"/>
                </a:solidFill>
                <a:effectLst/>
                <a:uFillTx/>
                <a:latin typeface="Calibri"/>
                <a:ea typeface="Calibri"/>
              </a:rPr>
              <a:t>Groups B/D/E</a:t>
            </a:r>
            <a:endParaRPr lang="en-ZA" sz="800" b="0" u="none" strike="noStrike">
              <a:solidFill>
                <a:srgbClr val="FFFFFF"/>
              </a:solidFill>
              <a:effectLst/>
              <a:uFillTx/>
              <a:latin typeface="Arial"/>
            </a:endParaRPr>
          </a:p>
        </p:txBody>
      </p:sp>
      <p:sp>
        <p:nvSpPr>
          <p:cNvPr id="204" name="Text 50"/>
          <p:cNvSpPr/>
          <p:nvPr/>
        </p:nvSpPr>
        <p:spPr>
          <a:xfrm>
            <a:off x="3401640" y="33832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dwt_energy_approx (db4, level 3)</a:t>
            </a:r>
            <a:endParaRPr lang="en-ZA" sz="850" b="0" u="none" strike="noStrike">
              <a:solidFill>
                <a:srgbClr val="FFFFFF"/>
              </a:solidFill>
              <a:effectLst/>
              <a:uFillTx/>
              <a:latin typeface="Arial"/>
            </a:endParaRPr>
          </a:p>
        </p:txBody>
      </p:sp>
      <p:sp>
        <p:nvSpPr>
          <p:cNvPr id="205" name="Text 51"/>
          <p:cNvSpPr/>
          <p:nvPr/>
        </p:nvSpPr>
        <p:spPr>
          <a:xfrm>
            <a:off x="3401640" y="36208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dwt_energy_detail 1/2/3</a:t>
            </a:r>
            <a:endParaRPr lang="en-ZA" sz="850" b="0" u="none" strike="noStrike">
              <a:solidFill>
                <a:srgbClr val="FFFFFF"/>
              </a:solidFill>
              <a:effectLst/>
              <a:uFillTx/>
              <a:latin typeface="Arial"/>
            </a:endParaRPr>
          </a:p>
        </p:txBody>
      </p:sp>
      <p:sp>
        <p:nvSpPr>
          <p:cNvPr id="206" name="Text 52"/>
          <p:cNvSpPr/>
          <p:nvPr/>
        </p:nvSpPr>
        <p:spPr>
          <a:xfrm>
            <a:off x="3401640" y="38588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dwt_energy_total</a:t>
            </a:r>
            <a:endParaRPr lang="en-ZA" sz="850" b="0" u="none" strike="noStrike">
              <a:solidFill>
                <a:srgbClr val="FFFFFF"/>
              </a:solidFill>
              <a:effectLst/>
              <a:uFillTx/>
              <a:latin typeface="Arial"/>
            </a:endParaRPr>
          </a:p>
        </p:txBody>
      </p:sp>
      <p:sp>
        <p:nvSpPr>
          <p:cNvPr id="207" name="Text 53"/>
          <p:cNvSpPr/>
          <p:nvPr/>
        </p:nvSpPr>
        <p:spPr>
          <a:xfrm>
            <a:off x="3401640" y="40964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dwt_entropy</a:t>
            </a:r>
            <a:endParaRPr lang="en-ZA" sz="850" b="0" u="none" strike="noStrike">
              <a:solidFill>
                <a:srgbClr val="FFFFFF"/>
              </a:solidFill>
              <a:effectLst/>
              <a:uFillTx/>
              <a:latin typeface="Arial"/>
            </a:endParaRPr>
          </a:p>
        </p:txBody>
      </p:sp>
      <p:sp>
        <p:nvSpPr>
          <p:cNvPr id="208" name="Shape 54"/>
          <p:cNvSpPr/>
          <p:nvPr/>
        </p:nvSpPr>
        <p:spPr>
          <a:xfrm>
            <a:off x="6144840" y="2779920"/>
            <a:ext cx="2742840" cy="1682280"/>
          </a:xfrm>
          <a:prstGeom prst="roundRect">
            <a:avLst>
              <a:gd name="adj" fmla="val 4891"/>
            </a:avLst>
          </a:prstGeom>
          <a:solidFill>
            <a:srgbClr val="141F4A"/>
          </a:solidFill>
          <a:ln w="12700">
            <a:solidFill>
              <a:srgbClr val="A78BFA"/>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09" name="Shape 55"/>
          <p:cNvSpPr/>
          <p:nvPr/>
        </p:nvSpPr>
        <p:spPr>
          <a:xfrm>
            <a:off x="6144840" y="2779920"/>
            <a:ext cx="2742840" cy="402120"/>
          </a:xfrm>
          <a:prstGeom prst="roundRect">
            <a:avLst>
              <a:gd name="adj" fmla="val 20455"/>
            </a:avLst>
          </a:prstGeom>
          <a:solidFill>
            <a:srgbClr val="A78BFA">
              <a:alpha val="85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10" name="Text 56"/>
          <p:cNvSpPr/>
          <p:nvPr/>
        </p:nvSpPr>
        <p:spPr>
          <a:xfrm>
            <a:off x="6272640" y="2834640"/>
            <a:ext cx="1919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0F4FF"/>
                </a:solidFill>
                <a:effectLst/>
                <a:uFillTx/>
                <a:latin typeface="Calibri"/>
                <a:ea typeface="Calibri"/>
              </a:rPr>
              <a:t>Interaction</a:t>
            </a:r>
            <a:endParaRPr lang="en-ZA" sz="1100" b="0" u="none" strike="noStrike">
              <a:solidFill>
                <a:srgbClr val="FFFFFF"/>
              </a:solidFill>
              <a:effectLst/>
              <a:uFillTx/>
              <a:latin typeface="Arial"/>
            </a:endParaRPr>
          </a:p>
        </p:txBody>
      </p:sp>
      <p:sp>
        <p:nvSpPr>
          <p:cNvPr id="211" name="Shape 57"/>
          <p:cNvSpPr/>
          <p:nvPr/>
        </p:nvSpPr>
        <p:spPr>
          <a:xfrm>
            <a:off x="8321040" y="2853000"/>
            <a:ext cx="420120" cy="255600"/>
          </a:xfrm>
          <a:prstGeom prst="roundRect">
            <a:avLst>
              <a:gd name="adj" fmla="val 21429"/>
            </a:avLst>
          </a:prstGeom>
          <a:solidFill>
            <a:srgbClr val="A78BFA"/>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12" name="Text 58"/>
          <p:cNvSpPr/>
          <p:nvPr/>
        </p:nvSpPr>
        <p:spPr>
          <a:xfrm>
            <a:off x="8321040" y="2853000"/>
            <a:ext cx="420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80D24"/>
                </a:solidFill>
                <a:effectLst/>
                <a:uFillTx/>
                <a:latin typeface="Calibri"/>
                <a:ea typeface="Calibri"/>
              </a:rPr>
              <a:t>7</a:t>
            </a:r>
            <a:endParaRPr lang="en-ZA" sz="1000" b="0" u="none" strike="noStrike">
              <a:solidFill>
                <a:srgbClr val="FFFFFF"/>
              </a:solidFill>
              <a:effectLst/>
              <a:uFillTx/>
              <a:latin typeface="Arial"/>
            </a:endParaRPr>
          </a:p>
        </p:txBody>
      </p:sp>
      <p:sp>
        <p:nvSpPr>
          <p:cNvPr id="213" name="Text 59"/>
          <p:cNvSpPr/>
          <p:nvPr/>
        </p:nvSpPr>
        <p:spPr>
          <a:xfrm>
            <a:off x="6272640" y="3200400"/>
            <a:ext cx="2486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A78BFA"/>
                </a:solidFill>
                <a:effectLst/>
                <a:uFillTx/>
                <a:latin typeface="Calibri"/>
                <a:ea typeface="Calibri"/>
              </a:rPr>
              <a:t>Groups B/D/E</a:t>
            </a:r>
            <a:endParaRPr lang="en-ZA" sz="800" b="0" u="none" strike="noStrike">
              <a:solidFill>
                <a:srgbClr val="FFFFFF"/>
              </a:solidFill>
              <a:effectLst/>
              <a:uFillTx/>
              <a:latin typeface="Arial"/>
            </a:endParaRPr>
          </a:p>
        </p:txBody>
      </p:sp>
      <p:sp>
        <p:nvSpPr>
          <p:cNvPr id="214" name="Text 60"/>
          <p:cNvSpPr/>
          <p:nvPr/>
        </p:nvSpPr>
        <p:spPr>
          <a:xfrm>
            <a:off x="6272640" y="33832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mean/min/std pairwise distance</a:t>
            </a:r>
            <a:endParaRPr lang="en-ZA" sz="850" b="0" u="none" strike="noStrike">
              <a:solidFill>
                <a:srgbClr val="FFFFFF"/>
              </a:solidFill>
              <a:effectLst/>
              <a:uFillTx/>
              <a:latin typeface="Arial"/>
            </a:endParaRPr>
          </a:p>
        </p:txBody>
      </p:sp>
      <p:sp>
        <p:nvSpPr>
          <p:cNvPr id="215" name="Text 61"/>
          <p:cNvSpPr/>
          <p:nvPr/>
        </p:nvSpPr>
        <p:spPr>
          <a:xfrm>
            <a:off x="6272640" y="362088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mean/max relative speed</a:t>
            </a:r>
            <a:endParaRPr lang="en-ZA" sz="850" b="0" u="none" strike="noStrike">
              <a:solidFill>
                <a:srgbClr val="FFFFFF"/>
              </a:solidFill>
              <a:effectLst/>
              <a:uFillTx/>
              <a:latin typeface="Arial"/>
            </a:endParaRPr>
          </a:p>
        </p:txBody>
      </p:sp>
      <p:sp>
        <p:nvSpPr>
          <p:cNvPr id="216" name="Text 62"/>
          <p:cNvSpPr/>
          <p:nvPr/>
        </p:nvSpPr>
        <p:spPr>
          <a:xfrm>
            <a:off x="6272640" y="38588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proximity_duration_ratio</a:t>
            </a:r>
            <a:endParaRPr lang="en-ZA" sz="850" b="0" u="none" strike="noStrike">
              <a:solidFill>
                <a:srgbClr val="FFFFFF"/>
              </a:solidFill>
              <a:effectLst/>
              <a:uFillTx/>
              <a:latin typeface="Arial"/>
            </a:endParaRPr>
          </a:p>
        </p:txBody>
      </p:sp>
      <p:sp>
        <p:nvSpPr>
          <p:cNvPr id="217" name="Text 63"/>
          <p:cNvSpPr/>
          <p:nvPr/>
        </p:nvSpPr>
        <p:spPr>
          <a:xfrm>
            <a:off x="6272640" y="4096440"/>
            <a:ext cx="2486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 n_proximity_events</a:t>
            </a:r>
            <a:endParaRPr lang="en-ZA" sz="850" b="0" u="none" strike="noStrike">
              <a:solidFill>
                <a:srgbClr val="FFFFFF"/>
              </a:solidFill>
              <a:effectLst/>
              <a:uFillTx/>
              <a:latin typeface="Arial"/>
            </a:endParaRPr>
          </a:p>
        </p:txBody>
      </p:sp>
      <p:sp>
        <p:nvSpPr>
          <p:cNvPr id="218" name="Shape 64"/>
          <p:cNvSpPr/>
          <p:nvPr/>
        </p:nvSpPr>
        <p:spPr>
          <a:xfrm>
            <a:off x="402480" y="4517280"/>
            <a:ext cx="8339040" cy="347040"/>
          </a:xfrm>
          <a:prstGeom prst="roundRect">
            <a:avLst>
              <a:gd name="adj" fmla="val 18421"/>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19" name="Text 65"/>
          <p:cNvSpPr/>
          <p:nvPr/>
        </p:nvSpPr>
        <p:spPr>
          <a:xfrm>
            <a:off x="402480" y="4517280"/>
            <a:ext cx="8339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0" u="none" strike="noStrike">
                <a:solidFill>
                  <a:srgbClr val="4DD0E1"/>
                </a:solidFill>
                <a:effectLst/>
                <a:uFillTx/>
                <a:latin typeface="Calibri"/>
                <a:ea typeface="Calibri"/>
              </a:rPr>
              <a:t>Group A: Trajectory only  →  14 × 3 + 1 = 43 features / video     |     Groups B / D / E: All 6 modules  →  44 × 3 + 1 = 133 features / video</a:t>
            </a:r>
            <a:endParaRPr lang="en-ZA"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535"/>
        </a:solidFill>
      </p:bgPr>
    </p:bg>
    <p:spTree>
      <p:nvGrpSpPr>
        <p:cNvPr id="1" name=""/>
        <p:cNvGrpSpPr/>
        <p:nvPr/>
      </p:nvGrpSpPr>
      <p:grpSpPr>
        <a:xfrm>
          <a:off x="0" y="0"/>
          <a:ext cx="0" cy="0"/>
          <a:chOff x="0" y="0"/>
          <a:chExt cx="0" cy="0"/>
        </a:xfrm>
      </p:grpSpPr>
      <p:sp>
        <p:nvSpPr>
          <p:cNvPr id="220" name="Text 0"/>
          <p:cNvSpPr/>
          <p:nvPr/>
        </p:nvSpPr>
        <p:spPr>
          <a:xfrm>
            <a:off x="457200" y="201240"/>
            <a:ext cx="8229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0F4FF"/>
                </a:solidFill>
                <a:effectLst/>
                <a:uFillTx/>
                <a:latin typeface="Cambria"/>
                <a:ea typeface="Cambria"/>
              </a:rPr>
              <a:t>New Outputs Supporting the Paper</a:t>
            </a:r>
            <a:endParaRPr lang="en-ZA" sz="2200" b="0" u="none" strike="noStrike">
              <a:solidFill>
                <a:srgbClr val="FFFFFF"/>
              </a:solidFill>
              <a:effectLst/>
              <a:uFillTx/>
              <a:latin typeface="Arial"/>
            </a:endParaRPr>
          </a:p>
        </p:txBody>
      </p:sp>
      <p:sp>
        <p:nvSpPr>
          <p:cNvPr id="221" name="Text 1"/>
          <p:cNvSpPr/>
          <p:nvPr/>
        </p:nvSpPr>
        <p:spPr>
          <a:xfrm>
            <a:off x="457200" y="658440"/>
            <a:ext cx="8229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7B8DB8"/>
                </a:solidFill>
                <a:effectLst/>
                <a:uFillTx/>
                <a:latin typeface="Calibri"/>
                <a:ea typeface="Calibri"/>
              </a:rPr>
              <a:t>All outputs are written per run to experiments/&lt;name&gt;/run_NNN/</a:t>
            </a:r>
            <a:endParaRPr lang="en-ZA" sz="1100" b="0" u="none" strike="noStrike">
              <a:solidFill>
                <a:srgbClr val="FFFFFF"/>
              </a:solidFill>
              <a:effectLst/>
              <a:uFillTx/>
              <a:latin typeface="Arial"/>
            </a:endParaRPr>
          </a:p>
        </p:txBody>
      </p:sp>
      <p:sp>
        <p:nvSpPr>
          <p:cNvPr id="222" name="Shape 2"/>
          <p:cNvSpPr/>
          <p:nvPr/>
        </p:nvSpPr>
        <p:spPr>
          <a:xfrm>
            <a:off x="402480" y="1005840"/>
            <a:ext cx="5120280" cy="694440"/>
          </a:xfrm>
          <a:prstGeom prst="roundRect">
            <a:avLst>
              <a:gd name="adj" fmla="val 10526"/>
            </a:avLst>
          </a:prstGeom>
          <a:solidFill>
            <a:srgbClr val="141F4A"/>
          </a:solidFill>
          <a:ln w="12700">
            <a:solidFill>
              <a:srgbClr val="00BCD4"/>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23" name="Text 3"/>
          <p:cNvSpPr/>
          <p:nvPr/>
        </p:nvSpPr>
        <p:spPr>
          <a:xfrm>
            <a:off x="530280" y="1051560"/>
            <a:ext cx="25599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F0F4FF"/>
                </a:solidFill>
                <a:effectLst/>
                <a:uFillTx/>
                <a:latin typeface="Calibri"/>
                <a:ea typeface="Calibri"/>
              </a:rPr>
              <a:t>Detector Statistics Table</a:t>
            </a:r>
            <a:endParaRPr lang="en-ZA" sz="1050" b="0" u="none" strike="noStrike">
              <a:solidFill>
                <a:srgbClr val="FFFFFF"/>
              </a:solidFill>
              <a:effectLst/>
              <a:uFillTx/>
              <a:latin typeface="Arial"/>
            </a:endParaRPr>
          </a:p>
        </p:txBody>
      </p:sp>
      <p:sp>
        <p:nvSpPr>
          <p:cNvPr id="224" name="Shape 4"/>
          <p:cNvSpPr/>
          <p:nvPr/>
        </p:nvSpPr>
        <p:spPr>
          <a:xfrm>
            <a:off x="3200400" y="1078920"/>
            <a:ext cx="2194200" cy="200880"/>
          </a:xfrm>
          <a:prstGeom prst="roundRect">
            <a:avLst>
              <a:gd name="adj" fmla="val 22727"/>
            </a:avLst>
          </a:prstGeom>
          <a:solidFill>
            <a:srgbClr val="00BCD4">
              <a:alpha val="25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25" name="Text 5"/>
          <p:cNvSpPr/>
          <p:nvPr/>
        </p:nvSpPr>
        <p:spPr>
          <a:xfrm>
            <a:off x="3200400" y="1078920"/>
            <a:ext cx="2194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0" u="none" strike="noStrike">
                <a:solidFill>
                  <a:srgbClr val="00BCD4"/>
                </a:solidFill>
                <a:effectLst/>
                <a:uFillTx/>
                <a:latin typeface="Calibri"/>
                <a:ea typeface="Calibri"/>
              </a:rPr>
              <a:t>detector_stats.json</a:t>
            </a:r>
            <a:endParaRPr lang="en-ZA" sz="700" b="0" u="none" strike="noStrike">
              <a:solidFill>
                <a:srgbClr val="FFFFFF"/>
              </a:solidFill>
              <a:effectLst/>
              <a:uFillTx/>
              <a:latin typeface="Arial"/>
            </a:endParaRPr>
          </a:p>
        </p:txBody>
      </p:sp>
      <p:sp>
        <p:nvSpPr>
          <p:cNvPr id="226" name="Text 6"/>
          <p:cNvSpPr/>
          <p:nvPr/>
        </p:nvSpPr>
        <p:spPr>
          <a:xfrm>
            <a:off x="530280" y="1316880"/>
            <a:ext cx="479124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20" b="0" u="none" strike="noStrike">
                <a:solidFill>
                  <a:srgbClr val="7B8DB8"/>
                </a:solidFill>
                <a:effectLst/>
                <a:uFillTx/>
                <a:latin typeface="Calibri"/>
                <a:ea typeface="Calibri"/>
              </a:rPr>
              <a:t>Per-distortion breakdown: Pristine / Exp / Fo / ExFo</a:t>
            </a:r>
            <a:endParaRPr lang="en-ZA" sz="820" b="0" u="none" strike="noStrike">
              <a:solidFill>
                <a:srgbClr val="FFFFFF"/>
              </a:solidFill>
              <a:effectLst/>
              <a:uFillTx/>
              <a:latin typeface="Arial"/>
            </a:endParaRPr>
          </a:p>
          <a:p>
            <a:pPr defTabSz="914400">
              <a:lnSpc>
                <a:spcPct val="100000"/>
              </a:lnSpc>
              <a:tabLst>
                <a:tab pos="0" algn="l"/>
              </a:tabLst>
            </a:pPr>
            <a:r>
              <a:rPr lang="en-US" sz="820" b="0" u="none" strike="noStrike">
                <a:solidFill>
                  <a:srgbClr val="7B8DB8"/>
                </a:solidFill>
                <a:effectLst/>
                <a:uFillTx/>
                <a:latin typeface="Calibri"/>
                <a:ea typeface="Calibri"/>
              </a:rPr>
              <a:t>→ total · successful · failed · detection_fail · tracking_fail · feature_fail · success_rate</a:t>
            </a:r>
            <a:endParaRPr lang="en-ZA" sz="820" b="0" u="none" strike="noStrike">
              <a:solidFill>
                <a:srgbClr val="FFFFFF"/>
              </a:solidFill>
              <a:effectLst/>
              <a:uFillTx/>
              <a:latin typeface="Arial"/>
            </a:endParaRPr>
          </a:p>
        </p:txBody>
      </p:sp>
      <p:sp>
        <p:nvSpPr>
          <p:cNvPr id="227" name="Shape 7"/>
          <p:cNvSpPr/>
          <p:nvPr/>
        </p:nvSpPr>
        <p:spPr>
          <a:xfrm>
            <a:off x="402480" y="1774080"/>
            <a:ext cx="5120280" cy="694440"/>
          </a:xfrm>
          <a:prstGeom prst="roundRect">
            <a:avLst>
              <a:gd name="adj" fmla="val 10526"/>
            </a:avLst>
          </a:prstGeom>
          <a:solidFill>
            <a:srgbClr val="141F4A"/>
          </a:solidFill>
          <a:ln w="12700">
            <a:solidFill>
              <a:srgbClr val="E94560"/>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28" name="Text 8"/>
          <p:cNvSpPr/>
          <p:nvPr/>
        </p:nvSpPr>
        <p:spPr>
          <a:xfrm>
            <a:off x="530280" y="1819800"/>
            <a:ext cx="25599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F0F4FF"/>
                </a:solidFill>
                <a:effectLst/>
                <a:uFillTx/>
                <a:latin typeface="Calibri"/>
                <a:ea typeface="Calibri"/>
              </a:rPr>
              <a:t>Failure Taxonomy</a:t>
            </a:r>
            <a:endParaRPr lang="en-ZA" sz="1050" b="0" u="none" strike="noStrike">
              <a:solidFill>
                <a:srgbClr val="FFFFFF"/>
              </a:solidFill>
              <a:effectLst/>
              <a:uFillTx/>
              <a:latin typeface="Arial"/>
            </a:endParaRPr>
          </a:p>
        </p:txBody>
      </p:sp>
      <p:sp>
        <p:nvSpPr>
          <p:cNvPr id="229" name="Shape 9"/>
          <p:cNvSpPr/>
          <p:nvPr/>
        </p:nvSpPr>
        <p:spPr>
          <a:xfrm>
            <a:off x="3200400" y="1847160"/>
            <a:ext cx="2194200" cy="200880"/>
          </a:xfrm>
          <a:prstGeom prst="roundRect">
            <a:avLst>
              <a:gd name="adj" fmla="val 22727"/>
            </a:avLst>
          </a:prstGeom>
          <a:solidFill>
            <a:srgbClr val="E94560">
              <a:alpha val="25000"/>
            </a:srgbClr>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30" name="Text 10"/>
          <p:cNvSpPr/>
          <p:nvPr/>
        </p:nvSpPr>
        <p:spPr>
          <a:xfrm>
            <a:off x="3200400" y="1847160"/>
            <a:ext cx="2194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0" u="none" strike="noStrike">
                <a:solidFill>
                  <a:srgbClr val="E94560"/>
                </a:solidFill>
                <a:effectLst/>
                <a:uFillTx/>
                <a:latin typeface="Calibri"/>
                <a:ea typeface="Calibri"/>
              </a:rPr>
              <a:t>failure_taxonomy.json</a:t>
            </a:r>
            <a:endParaRPr lang="en-ZA" sz="700" b="0" u="none" strike="noStrike">
              <a:solidFill>
                <a:srgbClr val="FFFFFF"/>
              </a:solidFill>
              <a:effectLst/>
              <a:uFillTx/>
              <a:latin typeface="Arial"/>
            </a:endParaRPr>
          </a:p>
        </p:txBody>
      </p:sp>
      <p:sp>
        <p:nvSpPr>
          <p:cNvPr id="231" name="Text 11"/>
          <p:cNvSpPr/>
          <p:nvPr/>
        </p:nvSpPr>
        <p:spPr>
          <a:xfrm>
            <a:off x="530280" y="2084760"/>
            <a:ext cx="479124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20" b="0" u="none" strike="noStrike">
                <a:solidFill>
                  <a:srgbClr val="7B8DB8"/>
                </a:solidFill>
                <a:effectLst/>
                <a:uFillTx/>
                <a:latin typeface="Calibri"/>
                <a:ea typeface="Calibri"/>
              </a:rPr>
              <a:t>One record per video with exact failure reason:</a:t>
            </a:r>
            <a:endParaRPr lang="en-ZA" sz="820" b="0" u="none" strike="noStrike">
              <a:solidFill>
                <a:srgbClr val="FFFFFF"/>
              </a:solidFill>
              <a:effectLst/>
              <a:uFillTx/>
              <a:latin typeface="Arial"/>
            </a:endParaRPr>
          </a:p>
          <a:p>
            <a:pPr defTabSz="914400">
              <a:lnSpc>
                <a:spcPct val="100000"/>
              </a:lnSpc>
              <a:tabLst>
                <a:tab pos="0" algn="l"/>
              </a:tabLst>
            </a:pPr>
            <a:r>
              <a:rPr lang="en-US" sz="820" b="0" u="none" strike="noStrike">
                <a:solidFill>
                  <a:srgbClr val="7B8DB8"/>
                </a:solidFill>
                <a:effectLst/>
                <a:uFillTx/>
                <a:latin typeface="Calibri"/>
                <a:ea typeface="Calibri"/>
              </a:rPr>
              <a:t>file_missing · detection_failure · tracking_failure · feature_failure</a:t>
            </a:r>
            <a:endParaRPr lang="en-ZA" sz="820" b="0" u="none" strike="noStrike">
              <a:solidFill>
                <a:srgbClr val="FFFFFF"/>
              </a:solidFill>
              <a:effectLst/>
              <a:uFillTx/>
              <a:latin typeface="Arial"/>
            </a:endParaRPr>
          </a:p>
        </p:txBody>
      </p:sp>
      <p:sp>
        <p:nvSpPr>
          <p:cNvPr id="232" name="Shape 12"/>
          <p:cNvSpPr/>
          <p:nvPr/>
        </p:nvSpPr>
        <p:spPr>
          <a:xfrm>
            <a:off x="402480" y="2541960"/>
            <a:ext cx="5120280" cy="694440"/>
          </a:xfrm>
          <a:prstGeom prst="roundRect">
            <a:avLst>
              <a:gd name="adj" fmla="val 10526"/>
            </a:avLst>
          </a:prstGeom>
          <a:solidFill>
            <a:srgbClr val="141F4A"/>
          </a:solidFill>
          <a:ln w="12700">
            <a:solidFill>
              <a:srgbClr val="FFB74D"/>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33" name="Text 13"/>
          <p:cNvSpPr/>
          <p:nvPr/>
        </p:nvSpPr>
        <p:spPr>
          <a:xfrm>
            <a:off x="530280" y="2587680"/>
            <a:ext cx="25599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F0F4FF"/>
                </a:solidFill>
                <a:effectLst/>
                <a:uFillTx/>
                <a:latin typeface="Calibri"/>
                <a:ea typeface="Calibri"/>
              </a:rPr>
              <a:t>Confidence Outputs</a:t>
            </a:r>
            <a:endParaRPr lang="en-ZA" sz="1050" b="0" u="none" strike="noStrike">
              <a:solidFill>
                <a:srgbClr val="FFFFFF"/>
              </a:solidFill>
              <a:effectLst/>
              <a:uFillTx/>
              <a:latin typeface="Arial"/>
            </a:endParaRPr>
          </a:p>
        </p:txBody>
      </p:sp>
      <p:sp>
        <p:nvSpPr>
          <p:cNvPr id="234" name="Shape 14"/>
          <p:cNvSpPr/>
          <p:nvPr/>
        </p:nvSpPr>
        <p:spPr>
          <a:xfrm>
            <a:off x="3200400" y="2615040"/>
            <a:ext cx="2194200" cy="200880"/>
          </a:xfrm>
          <a:prstGeom prst="roundRect">
            <a:avLst>
              <a:gd name="adj" fmla="val 22727"/>
            </a:avLst>
          </a:prstGeom>
          <a:solidFill>
            <a:srgbClr val="FFB74D">
              <a:alpha val="25000"/>
            </a:srgbClr>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35" name="Text 15"/>
          <p:cNvSpPr/>
          <p:nvPr/>
        </p:nvSpPr>
        <p:spPr>
          <a:xfrm>
            <a:off x="3200400" y="2615040"/>
            <a:ext cx="2194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0" u="none" strike="noStrike">
                <a:solidFill>
                  <a:srgbClr val="FFB74D"/>
                </a:solidFill>
                <a:effectLst/>
                <a:uFillTx/>
                <a:latin typeface="Calibri"/>
                <a:ea typeface="Calibri"/>
              </a:rPr>
              <a:t>results_activity.json</a:t>
            </a:r>
            <a:endParaRPr lang="en-ZA" sz="700" b="0" u="none" strike="noStrike">
              <a:solidFill>
                <a:srgbClr val="FFFFFF"/>
              </a:solidFill>
              <a:effectLst/>
              <a:uFillTx/>
              <a:latin typeface="Arial"/>
            </a:endParaRPr>
          </a:p>
        </p:txBody>
      </p:sp>
      <p:sp>
        <p:nvSpPr>
          <p:cNvPr id="236" name="Text 16"/>
          <p:cNvSpPr/>
          <p:nvPr/>
        </p:nvSpPr>
        <p:spPr>
          <a:xfrm>
            <a:off x="530280" y="2853000"/>
            <a:ext cx="479124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20" b="0" u="none" strike="noStrike">
                <a:solidFill>
                  <a:srgbClr val="7B8DB8"/>
                </a:solidFill>
                <a:effectLst/>
                <a:uFillTx/>
                <a:latin typeface="Calibri"/>
                <a:ea typeface="Calibri"/>
              </a:rPr>
              <a:t>Per model: class_probability (max prob per sample) · mean_confidence</a:t>
            </a:r>
            <a:endParaRPr lang="en-ZA" sz="820" b="0" u="none" strike="noStrike">
              <a:solidFill>
                <a:srgbClr val="FFFFFF"/>
              </a:solidFill>
              <a:effectLst/>
              <a:uFillTx/>
              <a:latin typeface="Arial"/>
            </a:endParaRPr>
          </a:p>
          <a:p>
            <a:pPr defTabSz="914400">
              <a:lnSpc>
                <a:spcPct val="100000"/>
              </a:lnSpc>
              <a:tabLst>
                <a:tab pos="0" algn="l"/>
              </a:tabLst>
            </a:pPr>
            <a:r>
              <a:rPr lang="en-US" sz="820" b="0" u="none" strike="noStrike">
                <a:solidFill>
                  <a:srgbClr val="7B8DB8"/>
                </a:solidFill>
                <a:effectLst/>
                <a:uFillTx/>
                <a:latin typeface="Calibri"/>
                <a:ea typeface="Calibri"/>
              </a:rPr>
              <a:t>track_confidence · detector_confidence</a:t>
            </a:r>
            <a:endParaRPr lang="en-ZA" sz="820" b="0" u="none" strike="noStrike">
              <a:solidFill>
                <a:srgbClr val="FFFFFF"/>
              </a:solidFill>
              <a:effectLst/>
              <a:uFillTx/>
              <a:latin typeface="Arial"/>
            </a:endParaRPr>
          </a:p>
        </p:txBody>
      </p:sp>
      <p:sp>
        <p:nvSpPr>
          <p:cNvPr id="237" name="Shape 17"/>
          <p:cNvSpPr/>
          <p:nvPr/>
        </p:nvSpPr>
        <p:spPr>
          <a:xfrm>
            <a:off x="402480" y="3310200"/>
            <a:ext cx="5120280" cy="694440"/>
          </a:xfrm>
          <a:prstGeom prst="roundRect">
            <a:avLst>
              <a:gd name="adj" fmla="val 10526"/>
            </a:avLst>
          </a:prstGeom>
          <a:solidFill>
            <a:srgbClr val="141F4A"/>
          </a:solidFill>
          <a:ln w="12700">
            <a:solidFill>
              <a:srgbClr val="26C281"/>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38" name="Text 18"/>
          <p:cNvSpPr/>
          <p:nvPr/>
        </p:nvSpPr>
        <p:spPr>
          <a:xfrm>
            <a:off x="530280" y="3355920"/>
            <a:ext cx="25599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F0F4FF"/>
                </a:solidFill>
                <a:effectLst/>
                <a:uFillTx/>
                <a:latin typeface="Calibri"/>
                <a:ea typeface="Calibri"/>
              </a:rPr>
              <a:t>Feature Importance</a:t>
            </a:r>
            <a:endParaRPr lang="en-ZA" sz="1050" b="0" u="none" strike="noStrike">
              <a:solidFill>
                <a:srgbClr val="FFFFFF"/>
              </a:solidFill>
              <a:effectLst/>
              <a:uFillTx/>
              <a:latin typeface="Arial"/>
            </a:endParaRPr>
          </a:p>
        </p:txBody>
      </p:sp>
      <p:sp>
        <p:nvSpPr>
          <p:cNvPr id="239" name="Shape 19"/>
          <p:cNvSpPr/>
          <p:nvPr/>
        </p:nvSpPr>
        <p:spPr>
          <a:xfrm>
            <a:off x="3200400" y="3383280"/>
            <a:ext cx="2194200" cy="200880"/>
          </a:xfrm>
          <a:prstGeom prst="roundRect">
            <a:avLst>
              <a:gd name="adj" fmla="val 22727"/>
            </a:avLst>
          </a:prstGeom>
          <a:solidFill>
            <a:srgbClr val="26C281">
              <a:alpha val="25000"/>
            </a:srgbClr>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40" name="Text 20"/>
          <p:cNvSpPr/>
          <p:nvPr/>
        </p:nvSpPr>
        <p:spPr>
          <a:xfrm>
            <a:off x="3200400" y="3383280"/>
            <a:ext cx="2194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0" u="none" strike="noStrike">
                <a:solidFill>
                  <a:srgbClr val="26C281"/>
                </a:solidFill>
                <a:effectLst/>
                <a:uFillTx/>
                <a:latin typeface="Calibri"/>
                <a:ea typeface="Calibri"/>
              </a:rPr>
              <a:t>feature_importance_*.json</a:t>
            </a:r>
            <a:endParaRPr lang="en-ZA" sz="700" b="0" u="none" strike="noStrike">
              <a:solidFill>
                <a:srgbClr val="FFFFFF"/>
              </a:solidFill>
              <a:effectLst/>
              <a:uFillTx/>
              <a:latin typeface="Arial"/>
            </a:endParaRPr>
          </a:p>
        </p:txBody>
      </p:sp>
      <p:sp>
        <p:nvSpPr>
          <p:cNvPr id="241" name="Text 21"/>
          <p:cNvSpPr/>
          <p:nvPr/>
        </p:nvSpPr>
        <p:spPr>
          <a:xfrm>
            <a:off x="530280" y="3620880"/>
            <a:ext cx="479124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20" b="0" u="none" strike="noStrike">
                <a:solidFill>
                  <a:srgbClr val="7B8DB8"/>
                </a:solidFill>
                <a:effectLst/>
                <a:uFillTx/>
                <a:latin typeface="Calibri"/>
                <a:ea typeface="Calibri"/>
              </a:rPr>
              <a:t>Importance per feature per model, saved each run.</a:t>
            </a:r>
            <a:endParaRPr lang="en-ZA" sz="820" b="0" u="none" strike="noStrike">
              <a:solidFill>
                <a:srgbClr val="FFFFFF"/>
              </a:solidFill>
              <a:effectLst/>
              <a:uFillTx/>
              <a:latin typeface="Arial"/>
            </a:endParaRPr>
          </a:p>
          <a:p>
            <a:pPr defTabSz="914400">
              <a:lnSpc>
                <a:spcPct val="100000"/>
              </a:lnSpc>
              <a:tabLst>
                <a:tab pos="0" algn="l"/>
              </a:tabLst>
            </a:pPr>
            <a:r>
              <a:rPr lang="en-US" sz="820" b="0" u="none" strike="noStrike">
                <a:solidFill>
                  <a:srgbClr val="7B8DB8"/>
                </a:solidFill>
                <a:effectLst/>
                <a:uFillTx/>
                <a:latin typeface="Calibri"/>
                <a:ea typeface="Calibri"/>
              </a:rPr>
              <a:t>Enables cross-run comparison (baseline vs. distortion-aware vs. GT).</a:t>
            </a:r>
            <a:endParaRPr lang="en-ZA" sz="820" b="0" u="none" strike="noStrike">
              <a:solidFill>
                <a:srgbClr val="FFFFFF"/>
              </a:solidFill>
              <a:effectLst/>
              <a:uFillTx/>
              <a:latin typeface="Arial"/>
            </a:endParaRPr>
          </a:p>
        </p:txBody>
      </p:sp>
      <p:sp>
        <p:nvSpPr>
          <p:cNvPr id="242" name="Shape 22"/>
          <p:cNvSpPr/>
          <p:nvPr/>
        </p:nvSpPr>
        <p:spPr>
          <a:xfrm>
            <a:off x="402480" y="4078080"/>
            <a:ext cx="5120280" cy="694440"/>
          </a:xfrm>
          <a:prstGeom prst="roundRect">
            <a:avLst>
              <a:gd name="adj" fmla="val 10526"/>
            </a:avLst>
          </a:prstGeom>
          <a:solidFill>
            <a:srgbClr val="141F4A"/>
          </a:solidFill>
          <a:ln w="12700">
            <a:solidFill>
              <a:srgbClr val="A78BFA"/>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43" name="Text 23"/>
          <p:cNvSpPr/>
          <p:nvPr/>
        </p:nvSpPr>
        <p:spPr>
          <a:xfrm>
            <a:off x="530280" y="4123800"/>
            <a:ext cx="255996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trike="noStrike">
                <a:solidFill>
                  <a:srgbClr val="F0F4FF"/>
                </a:solidFill>
                <a:effectLst/>
                <a:uFillTx/>
                <a:latin typeface="Calibri"/>
                <a:ea typeface="Calibri"/>
              </a:rPr>
              <a:t>Run Metadata</a:t>
            </a:r>
            <a:endParaRPr lang="en-ZA" sz="1050" b="0" u="none" strike="noStrike">
              <a:solidFill>
                <a:srgbClr val="FFFFFF"/>
              </a:solidFill>
              <a:effectLst/>
              <a:uFillTx/>
              <a:latin typeface="Arial"/>
            </a:endParaRPr>
          </a:p>
        </p:txBody>
      </p:sp>
      <p:sp>
        <p:nvSpPr>
          <p:cNvPr id="244" name="Shape 24"/>
          <p:cNvSpPr/>
          <p:nvPr/>
        </p:nvSpPr>
        <p:spPr>
          <a:xfrm>
            <a:off x="3200400" y="4151520"/>
            <a:ext cx="2194200" cy="200880"/>
          </a:xfrm>
          <a:prstGeom prst="roundRect">
            <a:avLst>
              <a:gd name="adj" fmla="val 22727"/>
            </a:avLst>
          </a:prstGeom>
          <a:solidFill>
            <a:srgbClr val="A78BFA">
              <a:alpha val="25000"/>
            </a:srgbClr>
          </a:solidFill>
          <a:ln w="12700">
            <a:solidFill>
              <a:srgbClr val="A78BFA"/>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45" name="Text 25"/>
          <p:cNvSpPr/>
          <p:nvPr/>
        </p:nvSpPr>
        <p:spPr>
          <a:xfrm>
            <a:off x="3200400" y="4151520"/>
            <a:ext cx="2194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0" u="none" strike="noStrike">
                <a:solidFill>
                  <a:srgbClr val="A78BFA"/>
                </a:solidFill>
                <a:effectLst/>
                <a:uFillTx/>
                <a:latin typeface="Calibri"/>
                <a:ea typeface="Calibri"/>
              </a:rPr>
              <a:t>run_meta.json</a:t>
            </a:r>
            <a:endParaRPr lang="en-ZA" sz="700" b="0" u="none" strike="noStrike">
              <a:solidFill>
                <a:srgbClr val="FFFFFF"/>
              </a:solidFill>
              <a:effectLst/>
              <a:uFillTx/>
              <a:latin typeface="Arial"/>
            </a:endParaRPr>
          </a:p>
        </p:txBody>
      </p:sp>
      <p:sp>
        <p:nvSpPr>
          <p:cNvPr id="246" name="Text 26"/>
          <p:cNvSpPr/>
          <p:nvPr/>
        </p:nvSpPr>
        <p:spPr>
          <a:xfrm>
            <a:off x="530280" y="4389120"/>
            <a:ext cx="479124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20" b="0" u="none" strike="noStrike">
                <a:solidFill>
                  <a:srgbClr val="7B8DB8"/>
                </a:solidFill>
                <a:effectLst/>
                <a:uFillTx/>
                <a:latin typeface="Calibri"/>
                <a:ea typeface="Calibri"/>
              </a:rPr>
              <a:t>git_commit hash · config name · feature_count · n_videos · timestamp</a:t>
            </a:r>
            <a:endParaRPr lang="en-ZA" sz="820" b="0" u="none" strike="noStrike">
              <a:solidFill>
                <a:srgbClr val="FFFFFF"/>
              </a:solidFill>
              <a:effectLst/>
              <a:uFillTx/>
              <a:latin typeface="Arial"/>
            </a:endParaRPr>
          </a:p>
          <a:p>
            <a:pPr defTabSz="914400">
              <a:lnSpc>
                <a:spcPct val="100000"/>
              </a:lnSpc>
              <a:tabLst>
                <a:tab pos="0" algn="l"/>
              </a:tabLst>
            </a:pPr>
            <a:r>
              <a:rPr lang="en-US" sz="820" b="0" u="none" strike="noStrike">
                <a:solidFill>
                  <a:srgbClr val="7B8DB8"/>
                </a:solidFill>
                <a:effectLst/>
                <a:uFillTx/>
                <a:latin typeface="Calibri"/>
                <a:ea typeface="Calibri"/>
              </a:rPr>
              <a:t>Supports reproducibility reporting in the paper.</a:t>
            </a:r>
            <a:endParaRPr lang="en-ZA" sz="820" b="0" u="none" strike="noStrike">
              <a:solidFill>
                <a:srgbClr val="FFFFFF"/>
              </a:solidFill>
              <a:effectLst/>
              <a:uFillTx/>
              <a:latin typeface="Arial"/>
            </a:endParaRPr>
          </a:p>
        </p:txBody>
      </p:sp>
      <p:sp>
        <p:nvSpPr>
          <p:cNvPr id="247" name="Shape 27"/>
          <p:cNvSpPr/>
          <p:nvPr/>
        </p:nvSpPr>
        <p:spPr>
          <a:xfrm>
            <a:off x="5669280" y="1005840"/>
            <a:ext cx="3090240" cy="3821760"/>
          </a:xfrm>
          <a:prstGeom prst="roundRect">
            <a:avLst>
              <a:gd name="adj" fmla="val 2959"/>
            </a:avLst>
          </a:prstGeom>
          <a:solidFill>
            <a:srgbClr val="141F4A"/>
          </a:solidFill>
          <a:ln w="12700">
            <a:solidFill>
              <a:srgbClr val="00BCD4"/>
            </a:solidFill>
            <a:round/>
          </a:ln>
          <a:effectLst>
            <a:outerShdw algn="bl" blurRad="101520" dir="2700000" dist="37674" kx="0" ky="0" rotWithShape="0" sx="100000" sy="100000">
              <a:srgbClr val="000000">
                <a:alpha val="25000"/>
              </a:srgbClr>
            </a:outerShdw>
          </a:effectLst>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48" name="Text 28"/>
          <p:cNvSpPr/>
          <p:nvPr/>
        </p:nvSpPr>
        <p:spPr>
          <a:xfrm>
            <a:off x="5815440" y="1078920"/>
            <a:ext cx="2742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0BCD4"/>
                </a:solidFill>
                <a:effectLst/>
                <a:uFillTx/>
                <a:latin typeface="Calibri"/>
                <a:ea typeface="Calibri"/>
              </a:rPr>
              <a:t>Plots Written to Disk</a:t>
            </a:r>
            <a:endParaRPr lang="en-ZA" sz="1100" b="0" u="none" strike="noStrike">
              <a:solidFill>
                <a:srgbClr val="FFFFFF"/>
              </a:solidFill>
              <a:effectLst/>
              <a:uFillTx/>
              <a:latin typeface="Arial"/>
            </a:endParaRPr>
          </a:p>
        </p:txBody>
      </p:sp>
      <p:sp>
        <p:nvSpPr>
          <p:cNvPr id="249" name="Text 29"/>
          <p:cNvSpPr/>
          <p:nvPr/>
        </p:nvSpPr>
        <p:spPr>
          <a:xfrm>
            <a:off x="5815440" y="1353240"/>
            <a:ext cx="274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i="1" u="none" strike="noStrike">
                <a:solidFill>
                  <a:srgbClr val="7B8DB8"/>
                </a:solidFill>
                <a:effectLst/>
                <a:uFillTx/>
                <a:latin typeface="Calibri"/>
                <a:ea typeface="Calibri"/>
              </a:rPr>
              <a:t>plots/ subfolder per run</a:t>
            </a:r>
            <a:endParaRPr lang="en-ZA" sz="850" b="0" u="none" strike="noStrike">
              <a:solidFill>
                <a:srgbClr val="FFFFFF"/>
              </a:solidFill>
              <a:effectLst/>
              <a:uFillTx/>
              <a:latin typeface="Arial"/>
            </a:endParaRPr>
          </a:p>
        </p:txBody>
      </p:sp>
      <p:sp>
        <p:nvSpPr>
          <p:cNvPr id="250" name="Shape 30"/>
          <p:cNvSpPr/>
          <p:nvPr/>
        </p:nvSpPr>
        <p:spPr>
          <a:xfrm>
            <a:off x="5815440" y="1609200"/>
            <a:ext cx="2797560" cy="529920"/>
          </a:xfrm>
          <a:prstGeom prst="roundRect">
            <a:avLst>
              <a:gd name="adj" fmla="val 12069"/>
            </a:avLst>
          </a:prstGeom>
          <a:solidFill>
            <a:srgbClr val="1A2D5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51" name="Shape 31"/>
          <p:cNvSpPr/>
          <p:nvPr/>
        </p:nvSpPr>
        <p:spPr>
          <a:xfrm>
            <a:off x="5943600" y="1764720"/>
            <a:ext cx="164160" cy="164160"/>
          </a:xfrm>
          <a:prstGeom prst="ellipse">
            <a:avLst/>
          </a:prstGeom>
          <a:solidFill>
            <a:srgbClr val="00BCD4"/>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52" name="Text 32"/>
          <p:cNvSpPr/>
          <p:nvPr/>
        </p:nvSpPr>
        <p:spPr>
          <a:xfrm>
            <a:off x="6172200" y="166428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F0F4FF"/>
                </a:solidFill>
                <a:effectLst/>
                <a:uFillTx/>
                <a:latin typeface="Calibri"/>
                <a:ea typeface="Calibri"/>
              </a:rPr>
              <a:t>Confusion matrix heatmap</a:t>
            </a:r>
            <a:endParaRPr lang="en-ZA" sz="950" b="0" u="none" strike="noStrike">
              <a:solidFill>
                <a:srgbClr val="FFFFFF"/>
              </a:solidFill>
              <a:effectLst/>
              <a:uFillTx/>
              <a:latin typeface="Arial"/>
            </a:endParaRPr>
          </a:p>
        </p:txBody>
      </p:sp>
      <p:sp>
        <p:nvSpPr>
          <p:cNvPr id="253" name="Text 33"/>
          <p:cNvSpPr/>
          <p:nvPr/>
        </p:nvSpPr>
        <p:spPr>
          <a:xfrm>
            <a:off x="6172200" y="1901880"/>
            <a:ext cx="23770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7B8DB8"/>
                </a:solidFill>
                <a:effectLst/>
                <a:uFillTx/>
                <a:latin typeface="Calibri"/>
                <a:ea typeface="Calibri"/>
              </a:rPr>
              <a:t>per model × target</a:t>
            </a:r>
            <a:endParaRPr lang="en-ZA" sz="800" b="0" u="none" strike="noStrike">
              <a:solidFill>
                <a:srgbClr val="FFFFFF"/>
              </a:solidFill>
              <a:effectLst/>
              <a:uFillTx/>
              <a:latin typeface="Arial"/>
            </a:endParaRPr>
          </a:p>
        </p:txBody>
      </p:sp>
      <p:sp>
        <p:nvSpPr>
          <p:cNvPr id="254" name="Shape 34"/>
          <p:cNvSpPr/>
          <p:nvPr/>
        </p:nvSpPr>
        <p:spPr>
          <a:xfrm>
            <a:off x="5815440" y="2231280"/>
            <a:ext cx="2797560" cy="529920"/>
          </a:xfrm>
          <a:prstGeom prst="roundRect">
            <a:avLst>
              <a:gd name="adj" fmla="val 12069"/>
            </a:avLst>
          </a:prstGeom>
          <a:solidFill>
            <a:srgbClr val="1A2D5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55" name="Shape 35"/>
          <p:cNvSpPr/>
          <p:nvPr/>
        </p:nvSpPr>
        <p:spPr>
          <a:xfrm>
            <a:off x="5943600" y="2386440"/>
            <a:ext cx="164160" cy="164160"/>
          </a:xfrm>
          <a:prstGeom prst="ellipse">
            <a:avLst/>
          </a:prstGeom>
          <a:solidFill>
            <a:srgbClr val="26C281"/>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56" name="Text 36"/>
          <p:cNvSpPr/>
          <p:nvPr/>
        </p:nvSpPr>
        <p:spPr>
          <a:xfrm>
            <a:off x="6172200" y="228600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F0F4FF"/>
                </a:solidFill>
                <a:effectLst/>
                <a:uFillTx/>
                <a:latin typeface="Calibri"/>
                <a:ea typeface="Calibri"/>
              </a:rPr>
              <a:t>Feature importance chart</a:t>
            </a:r>
            <a:endParaRPr lang="en-ZA" sz="950" b="0" u="none" strike="noStrike">
              <a:solidFill>
                <a:srgbClr val="FFFFFF"/>
              </a:solidFill>
              <a:effectLst/>
              <a:uFillTx/>
              <a:latin typeface="Arial"/>
            </a:endParaRPr>
          </a:p>
        </p:txBody>
      </p:sp>
      <p:sp>
        <p:nvSpPr>
          <p:cNvPr id="257" name="Text 37"/>
          <p:cNvSpPr/>
          <p:nvPr/>
        </p:nvSpPr>
        <p:spPr>
          <a:xfrm>
            <a:off x="6172200" y="2523600"/>
            <a:ext cx="23770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7B8DB8"/>
                </a:solidFill>
                <a:effectLst/>
                <a:uFillTx/>
                <a:latin typeface="Calibri"/>
                <a:ea typeface="Calibri"/>
              </a:rPr>
              <a:t>top-20 bar chart</a:t>
            </a:r>
            <a:endParaRPr lang="en-ZA" sz="800" b="0" u="none" strike="noStrike">
              <a:solidFill>
                <a:srgbClr val="FFFFFF"/>
              </a:solidFill>
              <a:effectLst/>
              <a:uFillTx/>
              <a:latin typeface="Arial"/>
            </a:endParaRPr>
          </a:p>
        </p:txBody>
      </p:sp>
      <p:sp>
        <p:nvSpPr>
          <p:cNvPr id="258" name="Shape 38"/>
          <p:cNvSpPr/>
          <p:nvPr/>
        </p:nvSpPr>
        <p:spPr>
          <a:xfrm>
            <a:off x="5815440" y="2853000"/>
            <a:ext cx="2797560" cy="529920"/>
          </a:xfrm>
          <a:prstGeom prst="roundRect">
            <a:avLst>
              <a:gd name="adj" fmla="val 12069"/>
            </a:avLst>
          </a:prstGeom>
          <a:solidFill>
            <a:srgbClr val="1A2D5A"/>
          </a:solidFill>
          <a:ln w="12700">
            <a:solidFill>
              <a:srgbClr val="FFB74D"/>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59" name="Shape 39"/>
          <p:cNvSpPr/>
          <p:nvPr/>
        </p:nvSpPr>
        <p:spPr>
          <a:xfrm>
            <a:off x="5943600" y="3008520"/>
            <a:ext cx="164160" cy="164160"/>
          </a:xfrm>
          <a:prstGeom prst="ellipse">
            <a:avLst/>
          </a:prstGeom>
          <a:solidFill>
            <a:srgbClr val="FFB74D"/>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60" name="Text 40"/>
          <p:cNvSpPr/>
          <p:nvPr/>
        </p:nvSpPr>
        <p:spPr>
          <a:xfrm>
            <a:off x="6172200" y="290772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F0F4FF"/>
                </a:solidFill>
                <a:effectLst/>
                <a:uFillTx/>
                <a:latin typeface="Calibri"/>
                <a:ea typeface="Calibri"/>
              </a:rPr>
              <a:t>Model accuracy comparison</a:t>
            </a:r>
            <a:endParaRPr lang="en-ZA" sz="950" b="0" u="none" strike="noStrike">
              <a:solidFill>
                <a:srgbClr val="FFFFFF"/>
              </a:solidFill>
              <a:effectLst/>
              <a:uFillTx/>
              <a:latin typeface="Arial"/>
            </a:endParaRPr>
          </a:p>
        </p:txBody>
      </p:sp>
      <p:sp>
        <p:nvSpPr>
          <p:cNvPr id="261" name="Text 41"/>
          <p:cNvSpPr/>
          <p:nvPr/>
        </p:nvSpPr>
        <p:spPr>
          <a:xfrm>
            <a:off x="6172200" y="3145680"/>
            <a:ext cx="23770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7B8DB8"/>
                </a:solidFill>
                <a:effectLst/>
                <a:uFillTx/>
                <a:latin typeface="Calibri"/>
                <a:ea typeface="Calibri"/>
              </a:rPr>
              <a:t>bar chart across models</a:t>
            </a:r>
            <a:endParaRPr lang="en-ZA" sz="800" b="0" u="none" strike="noStrike">
              <a:solidFill>
                <a:srgbClr val="FFFFFF"/>
              </a:solidFill>
              <a:effectLst/>
              <a:uFillTx/>
              <a:latin typeface="Arial"/>
            </a:endParaRPr>
          </a:p>
        </p:txBody>
      </p:sp>
      <p:sp>
        <p:nvSpPr>
          <p:cNvPr id="262" name="Shape 42"/>
          <p:cNvSpPr/>
          <p:nvPr/>
        </p:nvSpPr>
        <p:spPr>
          <a:xfrm>
            <a:off x="5815440" y="3474720"/>
            <a:ext cx="2797560" cy="529920"/>
          </a:xfrm>
          <a:prstGeom prst="roundRect">
            <a:avLst>
              <a:gd name="adj" fmla="val 12069"/>
            </a:avLst>
          </a:prstGeom>
          <a:solidFill>
            <a:srgbClr val="1A2D5A"/>
          </a:solidFill>
          <a:ln w="12700">
            <a:solidFill>
              <a:srgbClr val="E94560"/>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63" name="Shape 43"/>
          <p:cNvSpPr/>
          <p:nvPr/>
        </p:nvSpPr>
        <p:spPr>
          <a:xfrm>
            <a:off x="5943600" y="3630240"/>
            <a:ext cx="164160" cy="164160"/>
          </a:xfrm>
          <a:prstGeom prst="ellipse">
            <a:avLst/>
          </a:prstGeom>
          <a:solidFill>
            <a:srgbClr val="E94560"/>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64" name="Text 44"/>
          <p:cNvSpPr/>
          <p:nvPr/>
        </p:nvSpPr>
        <p:spPr>
          <a:xfrm>
            <a:off x="6172200" y="352944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F0F4FF"/>
                </a:solidFill>
                <a:effectLst/>
                <a:uFillTx/>
                <a:latin typeface="Calibri"/>
                <a:ea typeface="Calibri"/>
              </a:rPr>
              <a:t>Detector stats by distortion</a:t>
            </a:r>
            <a:endParaRPr lang="en-ZA" sz="950" b="0" u="none" strike="noStrike">
              <a:solidFill>
                <a:srgbClr val="FFFFFF"/>
              </a:solidFill>
              <a:effectLst/>
              <a:uFillTx/>
              <a:latin typeface="Arial"/>
            </a:endParaRPr>
          </a:p>
        </p:txBody>
      </p:sp>
      <p:sp>
        <p:nvSpPr>
          <p:cNvPr id="265" name="Text 45"/>
          <p:cNvSpPr/>
          <p:nvPr/>
        </p:nvSpPr>
        <p:spPr>
          <a:xfrm>
            <a:off x="6172200" y="3767400"/>
            <a:ext cx="23770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7B8DB8"/>
                </a:solidFill>
                <a:effectLst/>
                <a:uFillTx/>
                <a:latin typeface="Calibri"/>
                <a:ea typeface="Calibri"/>
              </a:rPr>
              <a:t>success rate bar chart</a:t>
            </a:r>
            <a:endParaRPr lang="en-ZA" sz="800" b="0" u="none" strike="noStrike">
              <a:solidFill>
                <a:srgbClr val="FFFFFF"/>
              </a:solidFill>
              <a:effectLst/>
              <a:uFillTx/>
              <a:latin typeface="Arial"/>
            </a:endParaRPr>
          </a:p>
        </p:txBody>
      </p:sp>
      <p:sp>
        <p:nvSpPr>
          <p:cNvPr id="266" name="Shape 46"/>
          <p:cNvSpPr/>
          <p:nvPr/>
        </p:nvSpPr>
        <p:spPr>
          <a:xfrm>
            <a:off x="5815440" y="4096440"/>
            <a:ext cx="2797560" cy="529920"/>
          </a:xfrm>
          <a:prstGeom prst="roundRect">
            <a:avLst>
              <a:gd name="adj" fmla="val 12069"/>
            </a:avLst>
          </a:prstGeom>
          <a:solidFill>
            <a:srgbClr val="1A2D5A"/>
          </a:solidFill>
          <a:ln w="12700">
            <a:solidFill>
              <a:srgbClr val="A78BFA"/>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67" name="Shape 47"/>
          <p:cNvSpPr/>
          <p:nvPr/>
        </p:nvSpPr>
        <p:spPr>
          <a:xfrm>
            <a:off x="5943600" y="4251960"/>
            <a:ext cx="164160" cy="164160"/>
          </a:xfrm>
          <a:prstGeom prst="ellipse">
            <a:avLst/>
          </a:prstGeom>
          <a:solidFill>
            <a:srgbClr val="A78BFA"/>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68" name="Text 48"/>
          <p:cNvSpPr/>
          <p:nvPr/>
        </p:nvSpPr>
        <p:spPr>
          <a:xfrm>
            <a:off x="6172200" y="415152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F0F4FF"/>
                </a:solidFill>
                <a:effectLst/>
                <a:uFillTx/>
                <a:latin typeface="Calibri"/>
                <a:ea typeface="Calibri"/>
              </a:rPr>
              <a:t>Track length histogram</a:t>
            </a:r>
            <a:endParaRPr lang="en-ZA" sz="950" b="0" u="none" strike="noStrike">
              <a:solidFill>
                <a:srgbClr val="FFFFFF"/>
              </a:solidFill>
              <a:effectLst/>
              <a:uFillTx/>
              <a:latin typeface="Arial"/>
            </a:endParaRPr>
          </a:p>
        </p:txBody>
      </p:sp>
      <p:sp>
        <p:nvSpPr>
          <p:cNvPr id="269" name="Text 49"/>
          <p:cNvSpPr/>
          <p:nvPr/>
        </p:nvSpPr>
        <p:spPr>
          <a:xfrm>
            <a:off x="6172200" y="4389120"/>
            <a:ext cx="23770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7B8DB8"/>
                </a:solidFill>
                <a:effectLst/>
                <a:uFillTx/>
                <a:latin typeface="Calibri"/>
                <a:ea typeface="Calibri"/>
              </a:rPr>
              <a:t>across all videos</a:t>
            </a:r>
            <a:endParaRPr lang="en-ZA"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24"/>
        </a:solidFill>
      </p:bgPr>
    </p:bg>
    <p:spTree>
      <p:nvGrpSpPr>
        <p:cNvPr id="1" name=""/>
        <p:cNvGrpSpPr/>
        <p:nvPr/>
      </p:nvGrpSpPr>
      <p:grpSpPr>
        <a:xfrm>
          <a:off x="0" y="0"/>
          <a:ext cx="0" cy="0"/>
          <a:chOff x="0" y="0"/>
          <a:chExt cx="0" cy="0"/>
        </a:xfrm>
      </p:grpSpPr>
      <p:sp>
        <p:nvSpPr>
          <p:cNvPr id="270" name="Shape 0"/>
          <p:cNvSpPr/>
          <p:nvPr/>
        </p:nvSpPr>
        <p:spPr>
          <a:xfrm>
            <a:off x="5029200" y="-914400"/>
            <a:ext cx="5486040" cy="5486040"/>
          </a:xfrm>
          <a:prstGeom prst="ellipse">
            <a:avLst/>
          </a:prstGeom>
          <a:solidFill>
            <a:srgbClr val="00BCD4">
              <a:alpha val="8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71" name="Text 1"/>
          <p:cNvSpPr/>
          <p:nvPr/>
        </p:nvSpPr>
        <p:spPr>
          <a:xfrm>
            <a:off x="548640" y="274320"/>
            <a:ext cx="8229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0F4FF"/>
                </a:solidFill>
                <a:effectLst/>
                <a:uFillTx/>
                <a:latin typeface="Cambria"/>
                <a:ea typeface="Cambria"/>
              </a:rPr>
              <a:t>Research Questions Now Addressed</a:t>
            </a:r>
            <a:endParaRPr lang="en-ZA" sz="2200" b="0" u="none" strike="noStrike">
              <a:solidFill>
                <a:srgbClr val="FFFFFF"/>
              </a:solidFill>
              <a:effectLst/>
              <a:uFillTx/>
              <a:latin typeface="Arial"/>
            </a:endParaRPr>
          </a:p>
        </p:txBody>
      </p:sp>
      <p:sp>
        <p:nvSpPr>
          <p:cNvPr id="272" name="Text 2"/>
          <p:cNvSpPr/>
          <p:nvPr/>
        </p:nvSpPr>
        <p:spPr>
          <a:xfrm>
            <a:off x="548640" y="731520"/>
            <a:ext cx="7314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7B8DB8"/>
                </a:solidFill>
                <a:effectLst/>
                <a:uFillTx/>
                <a:latin typeface="Calibri"/>
                <a:ea typeface="Calibri"/>
              </a:rPr>
              <a:t>What the redesigned codebase enables vs. the original paper scope</a:t>
            </a:r>
            <a:endParaRPr lang="en-ZA" sz="1100" b="0" u="none" strike="noStrike">
              <a:solidFill>
                <a:srgbClr val="FFFFFF"/>
              </a:solidFill>
              <a:effectLst/>
              <a:uFillTx/>
              <a:latin typeface="Arial"/>
            </a:endParaRPr>
          </a:p>
        </p:txBody>
      </p:sp>
      <p:sp>
        <p:nvSpPr>
          <p:cNvPr id="273" name="Shape 3"/>
          <p:cNvSpPr/>
          <p:nvPr/>
        </p:nvSpPr>
        <p:spPr>
          <a:xfrm>
            <a:off x="548640" y="1097280"/>
            <a:ext cx="8229240" cy="502560"/>
          </a:xfrm>
          <a:prstGeom prst="roundRect">
            <a:avLst>
              <a:gd name="adj" fmla="val 14545"/>
            </a:avLst>
          </a:prstGeom>
          <a:solidFill>
            <a:srgbClr val="141F4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74" name="Shape 4"/>
          <p:cNvSpPr/>
          <p:nvPr/>
        </p:nvSpPr>
        <p:spPr>
          <a:xfrm>
            <a:off x="658440" y="1188720"/>
            <a:ext cx="475200" cy="273960"/>
          </a:xfrm>
          <a:prstGeom prst="roundRect">
            <a:avLst>
              <a:gd name="adj" fmla="val 20000"/>
            </a:avLst>
          </a:prstGeom>
          <a:solidFill>
            <a:srgbClr val="26C281">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75" name="Text 5"/>
          <p:cNvSpPr/>
          <p:nvPr/>
        </p:nvSpPr>
        <p:spPr>
          <a:xfrm>
            <a:off x="658440" y="118872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RQ1</a:t>
            </a:r>
            <a:endParaRPr lang="en-ZA" sz="900" b="0" u="none" strike="noStrike">
              <a:solidFill>
                <a:srgbClr val="FFFFFF"/>
              </a:solidFill>
              <a:effectLst/>
              <a:uFillTx/>
              <a:latin typeface="Arial"/>
            </a:endParaRPr>
          </a:p>
        </p:txBody>
      </p:sp>
      <p:sp>
        <p:nvSpPr>
          <p:cNvPr id="276" name="Shape 6"/>
          <p:cNvSpPr/>
          <p:nvPr/>
        </p:nvSpPr>
        <p:spPr>
          <a:xfrm>
            <a:off x="7315200" y="1216080"/>
            <a:ext cx="1298160" cy="237240"/>
          </a:xfrm>
          <a:prstGeom prst="roundRect">
            <a:avLst>
              <a:gd name="adj" fmla="val 19231"/>
            </a:avLst>
          </a:prstGeom>
          <a:solidFill>
            <a:srgbClr val="26C281">
              <a:alpha val="80000"/>
            </a:srgbClr>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77" name="Text 7"/>
          <p:cNvSpPr/>
          <p:nvPr/>
        </p:nvSpPr>
        <p:spPr>
          <a:xfrm>
            <a:off x="7315200" y="121608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80D24"/>
                </a:solidFill>
                <a:effectLst/>
                <a:uFillTx/>
                <a:latin typeface="Calibri"/>
                <a:ea typeface="Calibri"/>
              </a:rPr>
              <a:t>ANSWERED</a:t>
            </a:r>
            <a:endParaRPr lang="en-ZA" sz="800" b="0" u="none" strike="noStrike">
              <a:solidFill>
                <a:srgbClr val="FFFFFF"/>
              </a:solidFill>
              <a:effectLst/>
              <a:uFillTx/>
              <a:latin typeface="Arial"/>
            </a:endParaRPr>
          </a:p>
        </p:txBody>
      </p:sp>
      <p:sp>
        <p:nvSpPr>
          <p:cNvPr id="278" name="Text 8"/>
          <p:cNvSpPr/>
          <p:nvPr/>
        </p:nvSpPr>
        <p:spPr>
          <a:xfrm>
            <a:off x="1207080" y="114300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Can trajectory features classify suspicious activities?</a:t>
            </a:r>
            <a:endParaRPr lang="en-ZA" sz="1000" b="0" u="none" strike="noStrike">
              <a:solidFill>
                <a:srgbClr val="FFFFFF"/>
              </a:solidFill>
              <a:effectLst/>
              <a:uFillTx/>
              <a:latin typeface="Arial"/>
            </a:endParaRPr>
          </a:p>
        </p:txBody>
      </p:sp>
      <p:sp>
        <p:nvSpPr>
          <p:cNvPr id="279" name="Text 9"/>
          <p:cNvSpPr/>
          <p:nvPr/>
        </p:nvSpPr>
        <p:spPr>
          <a:xfrm>
            <a:off x="1207080" y="137160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 A — answered (71.9% RF)</a:t>
            </a:r>
            <a:endParaRPr lang="en-ZA" sz="850" b="0" u="none" strike="noStrike">
              <a:solidFill>
                <a:srgbClr val="FFFFFF"/>
              </a:solidFill>
              <a:effectLst/>
              <a:uFillTx/>
              <a:latin typeface="Arial"/>
            </a:endParaRPr>
          </a:p>
        </p:txBody>
      </p:sp>
      <p:sp>
        <p:nvSpPr>
          <p:cNvPr id="280" name="Shape 10"/>
          <p:cNvSpPr/>
          <p:nvPr/>
        </p:nvSpPr>
        <p:spPr>
          <a:xfrm>
            <a:off x="548640" y="1673280"/>
            <a:ext cx="8229240" cy="502560"/>
          </a:xfrm>
          <a:prstGeom prst="roundRect">
            <a:avLst>
              <a:gd name="adj" fmla="val 14545"/>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81" name="Shape 11"/>
          <p:cNvSpPr/>
          <p:nvPr/>
        </p:nvSpPr>
        <p:spPr>
          <a:xfrm>
            <a:off x="658440" y="1764720"/>
            <a:ext cx="475200" cy="273960"/>
          </a:xfrm>
          <a:prstGeom prst="roundRect">
            <a:avLst>
              <a:gd name="adj" fmla="val 20000"/>
            </a:avLst>
          </a:prstGeom>
          <a:solidFill>
            <a:srgbClr val="00BCD4">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82" name="Text 12"/>
          <p:cNvSpPr/>
          <p:nvPr/>
        </p:nvSpPr>
        <p:spPr>
          <a:xfrm>
            <a:off x="658440" y="176472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RQ2</a:t>
            </a:r>
            <a:endParaRPr lang="en-ZA" sz="900" b="0" u="none" strike="noStrike">
              <a:solidFill>
                <a:srgbClr val="FFFFFF"/>
              </a:solidFill>
              <a:effectLst/>
              <a:uFillTx/>
              <a:latin typeface="Arial"/>
            </a:endParaRPr>
          </a:p>
        </p:txBody>
      </p:sp>
      <p:sp>
        <p:nvSpPr>
          <p:cNvPr id="283" name="Shape 13"/>
          <p:cNvSpPr/>
          <p:nvPr/>
        </p:nvSpPr>
        <p:spPr>
          <a:xfrm>
            <a:off x="7315200" y="1792080"/>
            <a:ext cx="1298160" cy="237240"/>
          </a:xfrm>
          <a:prstGeom prst="roundRect">
            <a:avLst>
              <a:gd name="adj" fmla="val 19231"/>
            </a:avLst>
          </a:prstGeom>
          <a:solidFill>
            <a:srgbClr val="00BCD4">
              <a:alpha val="30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84" name="Text 14"/>
          <p:cNvSpPr/>
          <p:nvPr/>
        </p:nvSpPr>
        <p:spPr>
          <a:xfrm>
            <a:off x="7315200" y="179208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BCD4"/>
                </a:solidFill>
                <a:effectLst/>
                <a:uFillTx/>
                <a:latin typeface="Calibri"/>
                <a:ea typeface="Calibri"/>
              </a:rPr>
              <a:t>RUN CODE</a:t>
            </a:r>
            <a:endParaRPr lang="en-ZA" sz="800" b="0" u="none" strike="noStrike">
              <a:solidFill>
                <a:srgbClr val="FFFFFF"/>
              </a:solidFill>
              <a:effectLst/>
              <a:uFillTx/>
              <a:latin typeface="Arial"/>
            </a:endParaRPr>
          </a:p>
        </p:txBody>
      </p:sp>
      <p:sp>
        <p:nvSpPr>
          <p:cNvPr id="285" name="Text 15"/>
          <p:cNvSpPr/>
          <p:nvPr/>
        </p:nvSpPr>
        <p:spPr>
          <a:xfrm>
            <a:off x="1207080" y="171900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Does distortion-aware enhancement improve robustness?</a:t>
            </a:r>
            <a:endParaRPr lang="en-ZA" sz="1000" b="0" u="none" strike="noStrike">
              <a:solidFill>
                <a:srgbClr val="FFFFFF"/>
              </a:solidFill>
              <a:effectLst/>
              <a:uFillTx/>
              <a:latin typeface="Arial"/>
            </a:endParaRPr>
          </a:p>
        </p:txBody>
      </p:sp>
      <p:sp>
        <p:nvSpPr>
          <p:cNvPr id="286" name="Text 16"/>
          <p:cNvSpPr/>
          <p:nvPr/>
        </p:nvSpPr>
        <p:spPr>
          <a:xfrm>
            <a:off x="1207080" y="194760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 B — implemented, run to get results</a:t>
            </a:r>
            <a:endParaRPr lang="en-ZA" sz="850" b="0" u="none" strike="noStrike">
              <a:solidFill>
                <a:srgbClr val="FFFFFF"/>
              </a:solidFill>
              <a:effectLst/>
              <a:uFillTx/>
              <a:latin typeface="Arial"/>
            </a:endParaRPr>
          </a:p>
        </p:txBody>
      </p:sp>
      <p:sp>
        <p:nvSpPr>
          <p:cNvPr id="287" name="Shape 17"/>
          <p:cNvSpPr/>
          <p:nvPr/>
        </p:nvSpPr>
        <p:spPr>
          <a:xfrm>
            <a:off x="548640" y="2249280"/>
            <a:ext cx="8229240" cy="502560"/>
          </a:xfrm>
          <a:prstGeom prst="roundRect">
            <a:avLst>
              <a:gd name="adj" fmla="val 14545"/>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88" name="Shape 18"/>
          <p:cNvSpPr/>
          <p:nvPr/>
        </p:nvSpPr>
        <p:spPr>
          <a:xfrm>
            <a:off x="658440" y="2340720"/>
            <a:ext cx="475200" cy="273960"/>
          </a:xfrm>
          <a:prstGeom prst="roundRect">
            <a:avLst>
              <a:gd name="adj" fmla="val 20000"/>
            </a:avLst>
          </a:prstGeom>
          <a:solidFill>
            <a:srgbClr val="00BCD4">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89" name="Text 19"/>
          <p:cNvSpPr/>
          <p:nvPr/>
        </p:nvSpPr>
        <p:spPr>
          <a:xfrm>
            <a:off x="658440" y="234072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RQ3</a:t>
            </a:r>
            <a:endParaRPr lang="en-ZA" sz="900" b="0" u="none" strike="noStrike">
              <a:solidFill>
                <a:srgbClr val="FFFFFF"/>
              </a:solidFill>
              <a:effectLst/>
              <a:uFillTx/>
              <a:latin typeface="Arial"/>
            </a:endParaRPr>
          </a:p>
        </p:txBody>
      </p:sp>
      <p:sp>
        <p:nvSpPr>
          <p:cNvPr id="290" name="Shape 20"/>
          <p:cNvSpPr/>
          <p:nvPr/>
        </p:nvSpPr>
        <p:spPr>
          <a:xfrm>
            <a:off x="7315200" y="2368440"/>
            <a:ext cx="1298160" cy="237240"/>
          </a:xfrm>
          <a:prstGeom prst="roundRect">
            <a:avLst>
              <a:gd name="adj" fmla="val 19231"/>
            </a:avLst>
          </a:prstGeom>
          <a:solidFill>
            <a:srgbClr val="00BCD4">
              <a:alpha val="30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91" name="Text 21"/>
          <p:cNvSpPr/>
          <p:nvPr/>
        </p:nvSpPr>
        <p:spPr>
          <a:xfrm>
            <a:off x="7315200" y="236844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BCD4"/>
                </a:solidFill>
                <a:effectLst/>
                <a:uFillTx/>
                <a:latin typeface="Calibri"/>
                <a:ea typeface="Calibri"/>
              </a:rPr>
              <a:t>RUN CODE</a:t>
            </a:r>
            <a:endParaRPr lang="en-ZA" sz="800" b="0" u="none" strike="noStrike">
              <a:solidFill>
                <a:srgbClr val="FFFFFF"/>
              </a:solidFill>
              <a:effectLst/>
              <a:uFillTx/>
              <a:latin typeface="Arial"/>
            </a:endParaRPr>
          </a:p>
        </p:txBody>
      </p:sp>
      <p:sp>
        <p:nvSpPr>
          <p:cNvPr id="292" name="Text 22"/>
          <p:cNvSpPr/>
          <p:nvPr/>
        </p:nvSpPr>
        <p:spPr>
          <a:xfrm>
            <a:off x="1207080" y="229500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How much does IoU+Hungarian gain over centroid tracking?</a:t>
            </a:r>
            <a:endParaRPr lang="en-ZA" sz="1000" b="0" u="none" strike="noStrike">
              <a:solidFill>
                <a:srgbClr val="FFFFFF"/>
              </a:solidFill>
              <a:effectLst/>
              <a:uFillTx/>
              <a:latin typeface="Arial"/>
            </a:endParaRPr>
          </a:p>
        </p:txBody>
      </p:sp>
      <p:sp>
        <p:nvSpPr>
          <p:cNvPr id="293" name="Text 23"/>
          <p:cNvSpPr/>
          <p:nvPr/>
        </p:nvSpPr>
        <p:spPr>
          <a:xfrm>
            <a:off x="1207080" y="252360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 A vs. legacy_centroid_reference config</a:t>
            </a:r>
            <a:endParaRPr lang="en-ZA" sz="850" b="0" u="none" strike="noStrike">
              <a:solidFill>
                <a:srgbClr val="FFFFFF"/>
              </a:solidFill>
              <a:effectLst/>
              <a:uFillTx/>
              <a:latin typeface="Arial"/>
            </a:endParaRPr>
          </a:p>
        </p:txBody>
      </p:sp>
      <p:sp>
        <p:nvSpPr>
          <p:cNvPr id="294" name="Shape 24"/>
          <p:cNvSpPr/>
          <p:nvPr/>
        </p:nvSpPr>
        <p:spPr>
          <a:xfrm>
            <a:off x="548640" y="2825640"/>
            <a:ext cx="8229240" cy="502560"/>
          </a:xfrm>
          <a:prstGeom prst="roundRect">
            <a:avLst>
              <a:gd name="adj" fmla="val 14545"/>
            </a:avLst>
          </a:prstGeom>
          <a:solidFill>
            <a:srgbClr val="141F4A"/>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295" name="Shape 25"/>
          <p:cNvSpPr/>
          <p:nvPr/>
        </p:nvSpPr>
        <p:spPr>
          <a:xfrm>
            <a:off x="658440" y="2917080"/>
            <a:ext cx="475200" cy="273960"/>
          </a:xfrm>
          <a:prstGeom prst="roundRect">
            <a:avLst>
              <a:gd name="adj" fmla="val 20000"/>
            </a:avLst>
          </a:prstGeom>
          <a:solidFill>
            <a:srgbClr val="26C281">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96" name="Text 26"/>
          <p:cNvSpPr/>
          <p:nvPr/>
        </p:nvSpPr>
        <p:spPr>
          <a:xfrm>
            <a:off x="658440" y="291708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RQ4</a:t>
            </a:r>
            <a:endParaRPr lang="en-ZA" sz="900" b="0" u="none" strike="noStrike">
              <a:solidFill>
                <a:srgbClr val="FFFFFF"/>
              </a:solidFill>
              <a:effectLst/>
              <a:uFillTx/>
              <a:latin typeface="Arial"/>
            </a:endParaRPr>
          </a:p>
        </p:txBody>
      </p:sp>
      <p:sp>
        <p:nvSpPr>
          <p:cNvPr id="297" name="Shape 27"/>
          <p:cNvSpPr/>
          <p:nvPr/>
        </p:nvSpPr>
        <p:spPr>
          <a:xfrm>
            <a:off x="7315200" y="2944440"/>
            <a:ext cx="1298160" cy="237240"/>
          </a:xfrm>
          <a:prstGeom prst="roundRect">
            <a:avLst>
              <a:gd name="adj" fmla="val 19231"/>
            </a:avLst>
          </a:prstGeom>
          <a:solidFill>
            <a:srgbClr val="26C281">
              <a:alpha val="80000"/>
            </a:srgbClr>
          </a:solidFill>
          <a:ln w="12700">
            <a:solidFill>
              <a:srgbClr val="26C281"/>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298" name="Text 28"/>
          <p:cNvSpPr/>
          <p:nvPr/>
        </p:nvSpPr>
        <p:spPr>
          <a:xfrm>
            <a:off x="7315200" y="294444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80D24"/>
                </a:solidFill>
                <a:effectLst/>
                <a:uFillTx/>
                <a:latin typeface="Calibri"/>
                <a:ea typeface="Calibri"/>
              </a:rPr>
              <a:t>ANSWERED</a:t>
            </a:r>
            <a:endParaRPr lang="en-ZA" sz="800" b="0" u="none" strike="noStrike">
              <a:solidFill>
                <a:srgbClr val="FFFFFF"/>
              </a:solidFill>
              <a:effectLst/>
              <a:uFillTx/>
              <a:latin typeface="Arial"/>
            </a:endParaRPr>
          </a:p>
        </p:txBody>
      </p:sp>
      <p:sp>
        <p:nvSpPr>
          <p:cNvPr id="299" name="Text 29"/>
          <p:cNvSpPr/>
          <p:nvPr/>
        </p:nvSpPr>
        <p:spPr>
          <a:xfrm>
            <a:off x="1207080" y="287136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How much activity/distortion info is in motion statistics?</a:t>
            </a:r>
            <a:endParaRPr lang="en-ZA" sz="1000" b="0" u="none" strike="noStrike">
              <a:solidFill>
                <a:srgbClr val="FFFFFF"/>
              </a:solidFill>
              <a:effectLst/>
              <a:uFillTx/>
              <a:latin typeface="Arial"/>
            </a:endParaRPr>
          </a:p>
        </p:txBody>
      </p:sp>
      <p:sp>
        <p:nvSpPr>
          <p:cNvPr id="300" name="Text 30"/>
          <p:cNvSpPr/>
          <p:nvPr/>
        </p:nvSpPr>
        <p:spPr>
          <a:xfrm>
            <a:off x="1207080" y="309996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Groups A/B — distortion classification 69.4%</a:t>
            </a:r>
            <a:endParaRPr lang="en-ZA" sz="850" b="0" u="none" strike="noStrike">
              <a:solidFill>
                <a:srgbClr val="FFFFFF"/>
              </a:solidFill>
              <a:effectLst/>
              <a:uFillTx/>
              <a:latin typeface="Arial"/>
            </a:endParaRPr>
          </a:p>
        </p:txBody>
      </p:sp>
      <p:sp>
        <p:nvSpPr>
          <p:cNvPr id="301" name="Shape 31"/>
          <p:cNvSpPr/>
          <p:nvPr/>
        </p:nvSpPr>
        <p:spPr>
          <a:xfrm>
            <a:off x="548640" y="3401640"/>
            <a:ext cx="8229240" cy="502560"/>
          </a:xfrm>
          <a:prstGeom prst="roundRect">
            <a:avLst>
              <a:gd name="adj" fmla="val 14545"/>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302" name="Shape 32"/>
          <p:cNvSpPr/>
          <p:nvPr/>
        </p:nvSpPr>
        <p:spPr>
          <a:xfrm>
            <a:off x="658440" y="3493080"/>
            <a:ext cx="475200" cy="273960"/>
          </a:xfrm>
          <a:prstGeom prst="roundRect">
            <a:avLst>
              <a:gd name="adj" fmla="val 20000"/>
            </a:avLst>
          </a:prstGeom>
          <a:solidFill>
            <a:srgbClr val="00BCD4">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303" name="Text 33"/>
          <p:cNvSpPr/>
          <p:nvPr/>
        </p:nvSpPr>
        <p:spPr>
          <a:xfrm>
            <a:off x="658440" y="349308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RQ5</a:t>
            </a:r>
            <a:endParaRPr lang="en-ZA" sz="900" b="0" u="none" strike="noStrike">
              <a:solidFill>
                <a:srgbClr val="FFFFFF"/>
              </a:solidFill>
              <a:effectLst/>
              <a:uFillTx/>
              <a:latin typeface="Arial"/>
            </a:endParaRPr>
          </a:p>
        </p:txBody>
      </p:sp>
      <p:sp>
        <p:nvSpPr>
          <p:cNvPr id="304" name="Shape 34"/>
          <p:cNvSpPr/>
          <p:nvPr/>
        </p:nvSpPr>
        <p:spPr>
          <a:xfrm>
            <a:off x="7315200" y="3520440"/>
            <a:ext cx="1298160" cy="237240"/>
          </a:xfrm>
          <a:prstGeom prst="roundRect">
            <a:avLst>
              <a:gd name="adj" fmla="val 19231"/>
            </a:avLst>
          </a:prstGeom>
          <a:solidFill>
            <a:srgbClr val="00BCD4">
              <a:alpha val="30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305" name="Text 35"/>
          <p:cNvSpPr/>
          <p:nvPr/>
        </p:nvSpPr>
        <p:spPr>
          <a:xfrm>
            <a:off x="7315200" y="352044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BCD4"/>
                </a:solidFill>
                <a:effectLst/>
                <a:uFillTx/>
                <a:latin typeface="Calibri"/>
                <a:ea typeface="Calibri"/>
              </a:rPr>
              <a:t>RUN CODE</a:t>
            </a:r>
            <a:endParaRPr lang="en-ZA" sz="800" b="0" u="none" strike="noStrike">
              <a:solidFill>
                <a:srgbClr val="FFFFFF"/>
              </a:solidFill>
              <a:effectLst/>
              <a:uFillTx/>
              <a:latin typeface="Arial"/>
            </a:endParaRPr>
          </a:p>
        </p:txBody>
      </p:sp>
      <p:sp>
        <p:nvSpPr>
          <p:cNvPr id="306" name="Text 36"/>
          <p:cNvSpPr/>
          <p:nvPr/>
        </p:nvSpPr>
        <p:spPr>
          <a:xfrm>
            <a:off x="1207080" y="344736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How do classical pipelines compare against CNN approaches?</a:t>
            </a:r>
            <a:endParaRPr lang="en-ZA" sz="1000" b="0" u="none" strike="noStrike">
              <a:solidFill>
                <a:srgbClr val="FFFFFF"/>
              </a:solidFill>
              <a:effectLst/>
              <a:uFillTx/>
              <a:latin typeface="Arial"/>
            </a:endParaRPr>
          </a:p>
        </p:txBody>
      </p:sp>
      <p:sp>
        <p:nvSpPr>
          <p:cNvPr id="307" name="Text 37"/>
          <p:cNvSpPr/>
          <p:nvPr/>
        </p:nvSpPr>
        <p:spPr>
          <a:xfrm>
            <a:off x="1207080" y="367596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 A/B vs. Group C (comparison_only)</a:t>
            </a:r>
            <a:endParaRPr lang="en-ZA" sz="850" b="0" u="none" strike="noStrike">
              <a:solidFill>
                <a:srgbClr val="FFFFFF"/>
              </a:solidFill>
              <a:effectLst/>
              <a:uFillTx/>
              <a:latin typeface="Arial"/>
            </a:endParaRPr>
          </a:p>
        </p:txBody>
      </p:sp>
      <p:sp>
        <p:nvSpPr>
          <p:cNvPr id="308" name="Shape 38"/>
          <p:cNvSpPr/>
          <p:nvPr/>
        </p:nvSpPr>
        <p:spPr>
          <a:xfrm>
            <a:off x="548640" y="3977640"/>
            <a:ext cx="8229240" cy="502560"/>
          </a:xfrm>
          <a:prstGeom prst="roundRect">
            <a:avLst>
              <a:gd name="adj" fmla="val 14545"/>
            </a:avLst>
          </a:prstGeom>
          <a:solidFill>
            <a:srgbClr val="141F4A"/>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FFFFFF"/>
              </a:solidFill>
              <a:effectLst/>
              <a:uFillTx/>
              <a:latin typeface="Arial"/>
            </a:endParaRPr>
          </a:p>
        </p:txBody>
      </p:sp>
      <p:sp>
        <p:nvSpPr>
          <p:cNvPr id="309" name="Shape 39"/>
          <p:cNvSpPr/>
          <p:nvPr/>
        </p:nvSpPr>
        <p:spPr>
          <a:xfrm>
            <a:off x="658440" y="4069080"/>
            <a:ext cx="475200" cy="273960"/>
          </a:xfrm>
          <a:prstGeom prst="roundRect">
            <a:avLst>
              <a:gd name="adj" fmla="val 20000"/>
            </a:avLst>
          </a:prstGeom>
          <a:solidFill>
            <a:srgbClr val="00BCD4">
              <a:alpha val="90000"/>
            </a:srgbClr>
          </a:solidFill>
          <a:ln w="12700">
            <a:solidFill>
              <a:srgbClr val="080D2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310" name="Text 40"/>
          <p:cNvSpPr/>
          <p:nvPr/>
        </p:nvSpPr>
        <p:spPr>
          <a:xfrm>
            <a:off x="658440" y="4069080"/>
            <a:ext cx="4752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080D24"/>
                </a:solidFill>
                <a:effectLst/>
                <a:uFillTx/>
                <a:latin typeface="Calibri"/>
                <a:ea typeface="Calibri"/>
              </a:rPr>
              <a:t>RQ6</a:t>
            </a:r>
            <a:endParaRPr lang="en-ZA" sz="900" b="0" u="none" strike="noStrike">
              <a:solidFill>
                <a:srgbClr val="FFFFFF"/>
              </a:solidFill>
              <a:effectLst/>
              <a:uFillTx/>
              <a:latin typeface="Arial"/>
            </a:endParaRPr>
          </a:p>
        </p:txBody>
      </p:sp>
      <p:sp>
        <p:nvSpPr>
          <p:cNvPr id="311" name="Shape 41"/>
          <p:cNvSpPr/>
          <p:nvPr/>
        </p:nvSpPr>
        <p:spPr>
          <a:xfrm>
            <a:off x="7315200" y="4096440"/>
            <a:ext cx="1298160" cy="237240"/>
          </a:xfrm>
          <a:prstGeom prst="roundRect">
            <a:avLst>
              <a:gd name="adj" fmla="val 19231"/>
            </a:avLst>
          </a:prstGeom>
          <a:solidFill>
            <a:srgbClr val="00BCD4">
              <a:alpha val="30000"/>
            </a:srgbClr>
          </a:solidFill>
          <a:ln w="12700">
            <a:solidFill>
              <a:srgbClr val="00BCD4"/>
            </a:solidFill>
            <a:round/>
          </a:ln>
        </p:spPr>
        <p:style>
          <a:lnRef idx="0"/>
          <a:fillRef idx="0"/>
          <a:effectRef idx="0"/>
          <a:fontRef idx="minor"/>
        </p:style>
        <p:txBody>
          <a:bodyPr lIns="90000" tIns="45000" rIns="90000" bIns="45000" anchor="t">
            <a:noAutofit/>
          </a:bodyPr>
          <a:p>
            <a:endParaRPr lang="en-ZA" sz="1800" b="0" u="none" strike="noStrike">
              <a:solidFill>
                <a:srgbClr val="000000"/>
              </a:solidFill>
              <a:effectLst/>
              <a:uFillTx/>
              <a:latin typeface="Arial"/>
            </a:endParaRPr>
          </a:p>
        </p:txBody>
      </p:sp>
      <p:sp>
        <p:nvSpPr>
          <p:cNvPr id="312" name="Text 42"/>
          <p:cNvSpPr/>
          <p:nvPr/>
        </p:nvSpPr>
        <p:spPr>
          <a:xfrm>
            <a:off x="7315200" y="4096440"/>
            <a:ext cx="12981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BCD4"/>
                </a:solidFill>
                <a:effectLst/>
                <a:uFillTx/>
                <a:latin typeface="Calibri"/>
                <a:ea typeface="Calibri"/>
              </a:rPr>
              <a:t>RUN CODE</a:t>
            </a:r>
            <a:endParaRPr lang="en-ZA" sz="800" b="0" u="none" strike="noStrike">
              <a:solidFill>
                <a:srgbClr val="FFFFFF"/>
              </a:solidFill>
              <a:effectLst/>
              <a:uFillTx/>
              <a:latin typeface="Arial"/>
            </a:endParaRPr>
          </a:p>
        </p:txBody>
      </p:sp>
      <p:sp>
        <p:nvSpPr>
          <p:cNvPr id="313" name="Text 43"/>
          <p:cNvSpPr/>
          <p:nvPr/>
        </p:nvSpPr>
        <p:spPr>
          <a:xfrm>
            <a:off x="1207080" y="4023360"/>
            <a:ext cx="59432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0F4FF"/>
                </a:solidFill>
                <a:effectLst/>
                <a:uFillTx/>
                <a:latin typeface="Calibri"/>
                <a:ea typeface="Calibri"/>
              </a:rPr>
              <a:t>What is the GT detector-independent performance ceiling?</a:t>
            </a:r>
            <a:endParaRPr lang="en-ZA" sz="1000" b="0" u="none" strike="noStrike">
              <a:solidFill>
                <a:srgbClr val="FFFFFF"/>
              </a:solidFill>
              <a:effectLst/>
              <a:uFillTx/>
              <a:latin typeface="Arial"/>
            </a:endParaRPr>
          </a:p>
        </p:txBody>
      </p:sp>
      <p:sp>
        <p:nvSpPr>
          <p:cNvPr id="314" name="Text 44"/>
          <p:cNvSpPr/>
          <p:nvPr/>
        </p:nvSpPr>
        <p:spPr>
          <a:xfrm>
            <a:off x="1207080" y="4251960"/>
            <a:ext cx="59432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7B8DB8"/>
                </a:solidFill>
                <a:effectLst/>
                <a:uFillTx/>
                <a:latin typeface="Calibri"/>
                <a:ea typeface="Calibri"/>
              </a:rPr>
              <a:t>Group E — implemented, no MOG2 fallback</a:t>
            </a:r>
            <a:endParaRPr lang="en-ZA"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LibreOffice/26.2.6.1$Linux_X86_64 LibreOffice_project/620$Build-1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2026-06-18T09:26:52Z</dcterms:created>
  <dc:creator>Tshephang Phuti-A-Nkutu Matlala</dc:creator>
  <dc:description/>
  <dc:language>en-ZA</dc:language>
  <cp:lastModifiedBy/>
  <dcterms:modified xsi:type="dcterms:W3CDTF">2026-10-11T14:33:15Z</dcterms:modified>
  <cp:revision>2</cp:revision>
  <dc:subject>PptxGenJS Presentation</dc:subject>
  <dc:title>Framework Updates &amp; Pipeline Overview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(16:9)</vt:lpwstr>
  </property>
  <property fmtid="{D5CDD505-2E9C-101B-9397-08002B2CF9AE}" pid="4" name="Slides">
    <vt:i4>6</vt:i4>
  </property>
</Properties>
</file>